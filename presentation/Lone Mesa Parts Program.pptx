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Barlow" panose="00000500000000000000" pitchFamily="34" charset="0"/>
      <p:regular r:id="rId17"/>
      <p:bold r:id="rId18"/>
    </p:embeddedFont>
    <p:embeddedFont>
      <p:font typeface="Barlow Condensed" panose="00000506000000000000"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AAYAN (about 30 sec) Lone Mesa lost 6,599 hours to unplanned breakdowns last year. When we broke that time down, one thing jumped out: almost a quarter of it, 24%, was a broken machine just sitting there waiting for a spare part to arrive. And one site is worse than the rest. Arroyo, top left on this map, has 40% of all the parts-waiting time and only 42% of its spare shelf stocked. It’s also one of three sites locked by overdue safety actions, the red cages. So we picked one problem: parts waiting. And one priority site: Arroyo.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AUSTIN (about 30 sec) The data we were given was messy. Most of the sensor file was in there twice. Machine IDs were scrambled, some temperatures were in Fahrenheit, and some totals were missing. We cleaned all of it and logged every change. Where a number was missing, we either rebuilt it with the case’s own formula or left it blank. We never guessed. Then we proved it: 39 automated checks, including that every single outage adds up exactly to the monthly production numbers. One command rebuilds everything from the raw file. Our limits: the data is synthetic, readings are once a day, and there are only six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AUSTIN (about 30 sec) This is the chart that decided our recommendation. Each dot is a site. Left to right is how full its spare-parts shelf is. Up and down is how often a breakdown had to wait for a part. They sit almost perfectly on a line. Arroyo’s shelf is 58% empty, and 56% of its breakdowns waited. Juniper’s shelf is nearly full, and only 10% waited. The correlation is −0.995. And when a breakdown does wait, it loses 16 to 18 hours, no matter what broke. Spare parts is the only option that fixes this stage, and it helps with every kind of failure. That’s why we chose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WALI (about 30 sec) Here’s what sits behind the demo you just saw. On the left, data the company already has: sensor readings, work orders and the safety register. No new systems. In the middle is Parvius. It cleans and checks the data, flags machines likely to fail, tracks the parts warehouse, and holds any site that isn’t safe. On the right, and this is the important part, people make every decision. The planner stages the parts, the safety supervisor signs off, and the manager sends the engineer. The system won’t send anyone without the right parts, and every decision is logged. The failure model only advises, and we don’t count any savings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AAYAN (about 35 sec) We want you to be able to trace every number we show, so here’s the chain. What we saw in the data: 24% of downtime is waiting for parts. What the case says: a spare-parts program cuts that wait by about 60%, with a range of 35 to 75. That number comes straight from the case’s Solutions sheet, not from us. So we stock spares, and we get about 968 hours of downtime back every year. That’s 666 in the first year while it rolls out. Just as important is what we did NOT claim. We claim no injury prevention, no repair-cost savings, and no hours from sensors or AI. Everything else is recorded data or the case’s own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SIDRA (about 30 sec) Here’s the twelve-month plan. Month zero, the site safety supervisors start closing the overdue safety actions, the most serious ones first. Month one, we pilot at Canyon, a site that isn’t on hold. The planner and storekeeper audit the shelf and stock the critical kits. Month two, Cedar and Juniper. Month four, Arroyo, our biggest win, but only once its safety actions are verified closed. Then Mesa and Prairie. Training is short, for planners and storekeepers. We judge the pilot on how full the spare shelf gets. If Canyon reaches 90% by month three, we expand. If it doesn’t, we revise. Any safety bypass, and we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(about 30 sec) We’re recommending one improvement: a critical spare-parts program at all six sites. The total to start is $227,500. That’s $168,000 for the spare parts program and $59,500 to clear the overdue safety actions, which the company needs to do anyway. $33,000 of that safety work is what unlocks the three blocked sites. After that, it runs at $19,500 a year. It fits inside every site’s existing staff hours. Even Arroyo, with only two technicians, uses 44 of its 120 available hours. And based on the case’s own numbers, it gets back about 968 hours of downtime a year. All costs come straight from the case data. We didn’t invent any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(about 30 sec) So what does it earn? This line is the running total of what the program brings back, minus what it costs. It dips a little in the first few months while we stock the sites. Then it crosses zero around month eight, and it keeps climbing to about $1.98 million by year three. That’s roughly eight times what it costs. We stress-tested it. Even if everything goes wrong at once, meaning a smaller effect, slow safety sign-off and oil near $50 a barrel, it still pays for itself by month sixteen. The biggest lever is how fast the safety actions get closed, which is exactly why safety comes first. One note: these are modeled margins from the case formula, not booked 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AAYAN (about 20 sec) So why say yes? Three reasons. One: it goes after the biggest delay we can actually fix. Waiting for parts happens at every site and with every kind of failure. Two: it’s fast. One month to start, nothing else needs to be installed first, and it pays for itself in about eight months. Three: it’s safe by design. Safety locks come first, and people make every decision. Our ask is simple: approve $227,500 to start the safety sprint and the Canyon pilot next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SIDRA (about 25 sec) Last, and most important: safety is never skipped. No override. A site with an open severity-five safety action can’t start, there’s no button to bypass that, and only the safety supervisor can sign off a closure. People decide. The system only gives advice. A person approves every warning and every dispatch, and every decision is logged. Work untouched. We only cut the time spent waiting for parts. Lockout and tagout, gas monitoring and restart steps stay exactly as they are. And if the data ever fails, every site defaults to on hold. Thank you.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1F0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58800"/>
          </a:xfrm>
          <a:prstGeom prst="rect">
            <a:avLst/>
          </a:prstGeom>
          <a:noFill/>
          <a:ln/>
        </p:spPr>
        <p:txBody>
          <a:bodyPr wrap="square" lIns="0" tIns="0" rIns="0" bIns="0" rtlCol="0" anchor="t"/>
          <a:lstStyle>
            <a:lvl1pPr algn="l" indent="0" marL="0">
              <a:lnSpc>
                <a:spcPct val="115000"/>
              </a:lnSpc>
              <a:buNone/>
              <a:defRPr lang="en-US" sz="4400" dirty="0">
                <a:solidFill>
                  <a:srgbClr val="17181A"/>
                </a:solidFill>
                <a:latin typeface="Barlow Condensed" pitchFamily="34" charset="0"/>
                <a:ea typeface="Barlow Condensed" pitchFamily="34" charset="-122"/>
                <a:cs typeface="Barlow Condensed"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143720"/>
            <a:ext cx="10566400" cy="3901480"/>
          </a:xfrm>
          <a:prstGeom prst="rect">
            <a:avLst/>
          </a:prstGeom>
          <a:noFill/>
          <a:ln/>
        </p:spPr>
        <p:txBody>
          <a:bodyPr wrap="square" lIns="0" tIns="0" rIns="0" bIns="0" rtlCol="0" anchor="t"/>
          <a:lstStyle>
            <a:lvl1pPr algn="l" indent="0" marL="0">
              <a:lnSpc>
                <a:spcPct val="140000"/>
              </a:lnSpc>
              <a:buNone/>
              <a:defRPr lang="en-US" sz="1600" dirty="0">
                <a:solidFill>
                  <a:srgbClr val="17181A"/>
                </a:solidFill>
                <a:latin typeface="Barlow" pitchFamily="34" charset="0"/>
                <a:ea typeface="Barlow" pitchFamily="34" charset="-122"/>
                <a:cs typeface="Barlow"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1F0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58800"/>
          </a:xfrm>
          <a:prstGeom prst="rect">
            <a:avLst/>
          </a:prstGeom>
          <a:noFill/>
          <a:ln/>
        </p:spPr>
        <p:txBody>
          <a:bodyPr wrap="square" lIns="0" tIns="0" rIns="0" bIns="0" rtlCol="0" anchor="t"/>
          <a:lstStyle>
            <a:lvl1pPr algn="l" indent="0" marL="0">
              <a:lnSpc>
                <a:spcPct val="115000"/>
              </a:lnSpc>
              <a:buNone/>
              <a:defRPr lang="en-US" sz="4400" dirty="0">
                <a:solidFill>
                  <a:srgbClr val="17181A"/>
                </a:solidFill>
                <a:latin typeface="Barlow Condensed" pitchFamily="34" charset="0"/>
                <a:ea typeface="Barlow Condensed" pitchFamily="34" charset="-122"/>
                <a:cs typeface="Barlow Condensed"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143720"/>
            <a:ext cx="10566400" cy="3901480"/>
          </a:xfrm>
          <a:prstGeom prst="rect">
            <a:avLst/>
          </a:prstGeom>
          <a:noFill/>
          <a:ln/>
        </p:spPr>
        <p:txBody>
          <a:bodyPr wrap="square" lIns="0" tIns="0" rIns="0" bIns="0" rtlCol="0" anchor="t"/>
          <a:lstStyle>
            <a:lvl1pPr algn="l" indent="0" marL="0">
              <a:lnSpc>
                <a:spcPct val="140000"/>
              </a:lnSpc>
              <a:buNone/>
              <a:defRPr lang="en-US" sz="1600" dirty="0">
                <a:solidFill>
                  <a:srgbClr val="17181A"/>
                </a:solidFill>
                <a:latin typeface="Barlow" pitchFamily="34" charset="0"/>
                <a:ea typeface="Barlow" pitchFamily="34" charset="-122"/>
                <a:cs typeface="Barlow"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0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8102E"/>
                </a:solidFill>
                <a:latin typeface="IBM Plex Mono" pitchFamily="49" charset="0"/>
                <a:ea typeface="IBM Plex Mono" pitchFamily="49" charset="-122"/>
                <a:cs typeface="IBM Plex Mono" pitchFamily="49" charset="-120"/>
              </a:rPr>
              <a:t>THE PROBLEM</a:t>
            </a:r>
            <a:endParaRPr lang="en-US" sz="1200" dirty="0"/>
          </a:p>
        </p:txBody>
      </p:sp>
      <p:sp>
        <p:nvSpPr>
          <p:cNvPr id="3" name="Text 1"/>
          <p:cNvSpPr/>
          <p:nvPr>
            <p:ph type="title"/>
          </p:nvPr>
        </p:nvSpPr>
        <p:spPr>
          <a:xfrm>
            <a:off x="812800" y="12801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7181A"/>
                </a:solidFill>
                <a:latin typeface="Barlow Condensed" pitchFamily="34" charset="0"/>
                <a:ea typeface="Barlow Condensed" pitchFamily="34" charset="-122"/>
                <a:cs typeface="Barlow Condensed" pitchFamily="34" charset="-120"/>
              </a:rPr>
              <a:t>MACHINES WAIT FOR PARTS</a:t>
            </a:r>
            <a:endParaRPr lang="en-US" sz="4400" dirty="0"/>
          </a:p>
        </p:txBody>
      </p:sp>
      <p:sp>
        <p:nvSpPr>
          <p:cNvPr id="4" name="Text 2"/>
          <p:cNvSpPr/>
          <p:nvPr/>
        </p:nvSpPr>
        <p:spPr>
          <a:xfrm>
            <a:off x="812800" y="2472730"/>
            <a:ext cx="4055110" cy="1397000"/>
          </a:xfrm>
          <a:prstGeom prst="rect">
            <a:avLst/>
          </a:prstGeom>
          <a:noFill/>
          <a:ln/>
        </p:spPr>
        <p:txBody>
          <a:bodyPr wrap="square" lIns="0" tIns="0" rIns="0" bIns="0" rtlCol="0" anchor="t">
            <a:normAutofit/>
          </a:bodyPr>
          <a:lstStyle/>
          <a:p>
            <a:pPr algn="l" indent="0" marL="0">
              <a:lnSpc>
                <a:spcPts val="10800"/>
              </a:lnSpc>
              <a:buNone/>
            </a:pPr>
            <a:r>
              <a:rPr lang="en-US" sz="12000" b="1" dirty="0">
                <a:solidFill>
                  <a:srgbClr val="C8102E"/>
                </a:solidFill>
                <a:latin typeface="Barlow Condensed" pitchFamily="34" charset="0"/>
                <a:ea typeface="Barlow Condensed" pitchFamily="34" charset="-122"/>
                <a:cs typeface="Barlow Condensed" pitchFamily="34" charset="-120"/>
              </a:rPr>
              <a:t>24%</a:t>
            </a:r>
            <a:endParaRPr lang="en-US" sz="12000" dirty="0"/>
          </a:p>
        </p:txBody>
      </p:sp>
      <p:sp>
        <p:nvSpPr>
          <p:cNvPr id="5" name="Text 3"/>
          <p:cNvSpPr/>
          <p:nvPr/>
        </p:nvSpPr>
        <p:spPr>
          <a:xfrm>
            <a:off x="812800" y="3945930"/>
            <a:ext cx="4055110"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4A4D52"/>
                </a:solidFill>
                <a:latin typeface="Barlow" pitchFamily="34" charset="0"/>
                <a:ea typeface="Barlow" pitchFamily="34" charset="-122"/>
                <a:cs typeface="Barlow" pitchFamily="34" charset="-120"/>
              </a:rPr>
              <a:t>of all downtime is spent waiting for a spare part</a:t>
            </a:r>
            <a:endParaRPr lang="en-US" sz="2000" dirty="0"/>
          </a:p>
        </p:txBody>
      </p:sp>
      <p:pic>
        <p:nvPicPr>
          <p:cNvPr id="6" name="Image 0" descr="Parvius field map of the six sites, three of them inside red safety-hold cages">    </p:cNvPr>
          <p:cNvPicPr>
            <a:picLocks noChangeAspect="1"/>
          </p:cNvPicPr>
          <p:nvPr/>
        </p:nvPicPr>
        <p:blipFill>
          <a:blip r:embed="rId1"/>
          <a:srcRect l="14" r="14" t="0" b="0"/>
          <a:stretch/>
        </p:blipFill>
        <p:spPr>
          <a:xfrm>
            <a:off x="5207000" y="2129830"/>
            <a:ext cx="4965700" cy="2794000"/>
          </a:xfrm>
          <a:prstGeom prst="rect">
            <a:avLst/>
          </a:prstGeom>
        </p:spPr>
      </p:pic>
      <p:sp>
        <p:nvSpPr>
          <p:cNvPr id="7" name="Shape 4"/>
          <p:cNvSpPr/>
          <p:nvPr/>
        </p:nvSpPr>
        <p:spPr>
          <a:xfrm>
            <a:off x="812800" y="5221089"/>
            <a:ext cx="10566400" cy="0"/>
          </a:xfrm>
          <a:prstGeom prst="line">
            <a:avLst/>
          </a:prstGeom>
          <a:noFill/>
          <a:ln w="12700">
            <a:solidFill>
              <a:srgbClr val="C9C7C0"/>
            </a:solidFill>
            <a:prstDash val="solid"/>
          </a:ln>
        </p:spPr>
      </p:sp>
      <p:sp>
        <p:nvSpPr>
          <p:cNvPr id="8" name="Text 5"/>
          <p:cNvSpPr/>
          <p:nvPr/>
        </p:nvSpPr>
        <p:spPr>
          <a:xfrm>
            <a:off x="8128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6,599 h lost to breakdowns in 2025</a:t>
            </a:r>
            <a:endParaRPr lang="en-US" sz="1400" dirty="0"/>
          </a:p>
        </p:txBody>
      </p:sp>
      <p:sp>
        <p:nvSpPr>
          <p:cNvPr id="9" name="Text 6"/>
          <p:cNvSpPr/>
          <p:nvPr/>
        </p:nvSpPr>
        <p:spPr>
          <a:xfrm>
            <a:off x="44196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24% of it = waiting for a spare part</a:t>
            </a:r>
            <a:endParaRPr lang="en-US" sz="1400" dirty="0"/>
          </a:p>
        </p:txBody>
      </p:sp>
      <p:sp>
        <p:nvSpPr>
          <p:cNvPr id="10" name="Text 7"/>
          <p:cNvSpPr/>
          <p:nvPr/>
        </p:nvSpPr>
        <p:spPr>
          <a:xfrm>
            <a:off x="80264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Arroyo: 40% of the waiting, only 42% stocked</a:t>
            </a:r>
            <a:endParaRPr lang="en-US" sz="1400" dirty="0"/>
          </a:p>
        </p:txBody>
      </p:sp>
      <p:sp>
        <p:nvSpPr>
          <p:cNvPr id="11" name="Text 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C90"/>
                </a:solidFill>
                <a:latin typeface="IBM Plex Mono" pitchFamily="49" charset="0"/>
                <a:ea typeface="IBM Plex Mono" pitchFamily="49" charset="-122"/>
                <a:cs typeface="IBM Plex Mono" pitchFamily="49" charset="-120"/>
              </a:rPr>
              <a:t>01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0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8102E"/>
                </a:solidFill>
                <a:latin typeface="IBM Plex Mono" pitchFamily="49" charset="0"/>
                <a:ea typeface="IBM Plex Mono" pitchFamily="49" charset="-122"/>
                <a:cs typeface="IBM Plex Mono" pitchFamily="49" charset="-120"/>
              </a:rPr>
              <a:t>THE DATA</a:t>
            </a:r>
            <a:endParaRPr lang="en-US" sz="1200" dirty="0"/>
          </a:p>
        </p:txBody>
      </p:sp>
      <p:sp>
        <p:nvSpPr>
          <p:cNvPr id="3" name="Text 1"/>
          <p:cNvSpPr/>
          <p:nvPr>
            <p:ph type="title"/>
          </p:nvPr>
        </p:nvSpPr>
        <p:spPr>
          <a:xfrm>
            <a:off x="812800" y="12801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7181A"/>
                </a:solidFill>
                <a:latin typeface="Barlow Condensed" pitchFamily="34" charset="0"/>
                <a:ea typeface="Barlow Condensed" pitchFamily="34" charset="-122"/>
                <a:cs typeface="Barlow Condensed" pitchFamily="34" charset="-120"/>
              </a:rPr>
              <a:t>CLEANED, THEN PROVEN</a:t>
            </a:r>
            <a:endParaRPr lang="en-US" sz="4400" dirty="0"/>
          </a:p>
        </p:txBody>
      </p:sp>
      <p:sp>
        <p:nvSpPr>
          <p:cNvPr id="4" name="Text 2"/>
          <p:cNvSpPr/>
          <p:nvPr/>
        </p:nvSpPr>
        <p:spPr>
          <a:xfrm>
            <a:off x="812800" y="2631480"/>
            <a:ext cx="10883392" cy="1397000"/>
          </a:xfrm>
          <a:prstGeom prst="rect">
            <a:avLst/>
          </a:prstGeom>
          <a:noFill/>
          <a:ln/>
        </p:spPr>
        <p:txBody>
          <a:bodyPr wrap="square" lIns="0" tIns="0" rIns="0" bIns="0" rtlCol="0" anchor="t">
            <a:normAutofit/>
          </a:bodyPr>
          <a:lstStyle/>
          <a:p>
            <a:pPr algn="l" indent="0" marL="0">
              <a:lnSpc>
                <a:spcPts val="10800"/>
              </a:lnSpc>
              <a:buNone/>
            </a:pPr>
            <a:r>
              <a:rPr lang="en-US" sz="12000" b="1" dirty="0">
                <a:solidFill>
                  <a:srgbClr val="17181A"/>
                </a:solidFill>
                <a:latin typeface="Barlow Condensed" pitchFamily="34" charset="0"/>
                <a:ea typeface="Barlow Condensed" pitchFamily="34" charset="-122"/>
                <a:cs typeface="Barlow Condensed" pitchFamily="34" charset="-120"/>
              </a:rPr>
              <a:t>39 / 39</a:t>
            </a:r>
            <a:endParaRPr lang="en-US" sz="12000" dirty="0"/>
          </a:p>
        </p:txBody>
      </p:sp>
      <p:sp>
        <p:nvSpPr>
          <p:cNvPr id="5" name="Text 3"/>
          <p:cNvSpPr/>
          <p:nvPr/>
        </p:nvSpPr>
        <p:spPr>
          <a:xfrm>
            <a:off x="812800" y="410468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4A4D52"/>
                </a:solidFill>
                <a:latin typeface="Barlow" pitchFamily="34" charset="0"/>
                <a:ea typeface="Barlow" pitchFamily="34" charset="-122"/>
                <a:cs typeface="Barlow" pitchFamily="34" charset="-120"/>
              </a:rPr>
              <a:t>checks pass. Nothing guessed, nothing invented.</a:t>
            </a:r>
            <a:endParaRPr lang="en-US" sz="2000" dirty="0"/>
          </a:p>
        </p:txBody>
      </p:sp>
      <p:sp>
        <p:nvSpPr>
          <p:cNvPr id="6" name="Shape 4"/>
          <p:cNvSpPr/>
          <p:nvPr/>
        </p:nvSpPr>
        <p:spPr>
          <a:xfrm>
            <a:off x="812800" y="5221089"/>
            <a:ext cx="10566400" cy="0"/>
          </a:xfrm>
          <a:prstGeom prst="line">
            <a:avLst/>
          </a:prstGeom>
          <a:noFill/>
          <a:ln w="12700">
            <a:solidFill>
              <a:srgbClr val="C9C7C0"/>
            </a:solidFill>
            <a:prstDash val="solid"/>
          </a:ln>
        </p:spPr>
      </p:sp>
      <p:sp>
        <p:nvSpPr>
          <p:cNvPr id="7" name="Text 5"/>
          <p:cNvSpPr/>
          <p:nvPr/>
        </p:nvSpPr>
        <p:spPr>
          <a:xfrm>
            <a:off x="8128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Duplicates removed · IDs and units fixed</a:t>
            </a:r>
            <a:endParaRPr lang="en-US" sz="1400" dirty="0"/>
          </a:p>
        </p:txBody>
      </p:sp>
      <p:sp>
        <p:nvSpPr>
          <p:cNvPr id="8" name="Text 6"/>
          <p:cNvSpPr/>
          <p:nvPr/>
        </p:nvSpPr>
        <p:spPr>
          <a:xfrm>
            <a:off x="44196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Missing values rebuilt by formula or left blank</a:t>
            </a:r>
            <a:endParaRPr lang="en-US" sz="1400" dirty="0"/>
          </a:p>
        </p:txBody>
      </p:sp>
      <p:sp>
        <p:nvSpPr>
          <p:cNvPr id="9" name="Text 7"/>
          <p:cNvSpPr/>
          <p:nvPr/>
        </p:nvSpPr>
        <p:spPr>
          <a:xfrm>
            <a:off x="80264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Limits: synthetic · daily readings · 6 sites</a:t>
            </a:r>
            <a:endParaRPr lang="en-US" sz="1400" dirty="0"/>
          </a:p>
        </p:txBody>
      </p:sp>
      <p:sp>
        <p:nvSpPr>
          <p:cNvPr id="10" name="Text 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C90"/>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0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8102E"/>
                </a:solidFill>
                <a:latin typeface="IBM Plex Mono" pitchFamily="49" charset="0"/>
                <a:ea typeface="IBM Plex Mono" pitchFamily="49" charset="-122"/>
                <a:cs typeface="IBM Plex Mono" pitchFamily="49" charset="-120"/>
              </a:rPr>
              <a:t>THE FINDING</a:t>
            </a:r>
            <a:endParaRPr lang="en-US" sz="1200" dirty="0"/>
          </a:p>
        </p:txBody>
      </p:sp>
      <p:sp>
        <p:nvSpPr>
          <p:cNvPr id="3" name="Text 1"/>
          <p:cNvSpPr/>
          <p:nvPr>
            <p:ph type="title"/>
          </p:nvPr>
        </p:nvSpPr>
        <p:spPr>
          <a:xfrm>
            <a:off x="812800" y="12801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7181A"/>
                </a:solidFill>
                <a:latin typeface="Barlow Condensed" pitchFamily="34" charset="0"/>
                <a:ea typeface="Barlow Condensed" pitchFamily="34" charset="-122"/>
                <a:cs typeface="Barlow Condensed" pitchFamily="34" charset="-120"/>
              </a:rPr>
              <a:t>EMPTY SHELVES MEAN WAITING</a:t>
            </a:r>
            <a:endParaRPr lang="en-US" sz="4400" dirty="0"/>
          </a:p>
        </p:txBody>
      </p:sp>
      <p:sp>
        <p:nvSpPr>
          <p:cNvPr id="4" name="Shape 2"/>
          <p:cNvSpPr/>
          <p:nvPr/>
        </p:nvSpPr>
        <p:spPr>
          <a:xfrm>
            <a:off x="812800" y="5221089"/>
            <a:ext cx="10566400" cy="0"/>
          </a:xfrm>
          <a:prstGeom prst="line">
            <a:avLst/>
          </a:prstGeom>
          <a:noFill/>
          <a:ln w="12700">
            <a:solidFill>
              <a:srgbClr val="C9C7C0"/>
            </a:solidFill>
            <a:prstDash val="solid"/>
          </a:ln>
        </p:spPr>
      </p:sp>
      <p:sp>
        <p:nvSpPr>
          <p:cNvPr id="5" name="Text 3"/>
          <p:cNvSpPr/>
          <p:nvPr/>
        </p:nvSpPr>
        <p:spPr>
          <a:xfrm>
            <a:off x="8128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Each dot = one site</a:t>
            </a:r>
            <a:endParaRPr lang="en-US" sz="1400" dirty="0"/>
          </a:p>
        </p:txBody>
      </p:sp>
      <p:sp>
        <p:nvSpPr>
          <p:cNvPr id="6" name="Text 4"/>
          <p:cNvSpPr/>
          <p:nvPr/>
        </p:nvSpPr>
        <p:spPr>
          <a:xfrm>
            <a:off x="44196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Arroyo 58% empty → 56% waited · Juniper only 10%</a:t>
            </a:r>
            <a:endParaRPr lang="en-US" sz="1400" dirty="0"/>
          </a:p>
        </p:txBody>
      </p:sp>
      <p:sp>
        <p:nvSpPr>
          <p:cNvPr id="7" name="Text 5"/>
          <p:cNvSpPr/>
          <p:nvPr/>
        </p:nvSpPr>
        <p:spPr>
          <a:xfrm>
            <a:off x="80264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Every wait costs 16–18 h, whatever broke</a:t>
            </a:r>
            <a:endParaRPr lang="en-US" sz="1400" dirty="0"/>
          </a:p>
        </p:txBody>
      </p:sp>
      <p:pic>
        <p:nvPicPr>
          <p:cNvPr id="8" name="Image 0" descr="Scatter chart: the emptier a site's spare shelf, the larger the share of its breakdowns that waited for parts. Arroyo is highest, Juniper lowest.">    </p:cNvPr>
          <p:cNvPicPr>
            <a:picLocks noChangeAspect="1"/>
          </p:cNvPicPr>
          <p:nvPr/>
        </p:nvPicPr>
        <p:blipFill>
          <a:blip r:embed="rId1"/>
          <a:srcRect l="-7" r="-7" t="0" b="0"/>
          <a:stretch/>
        </p:blipFill>
        <p:spPr>
          <a:xfrm>
            <a:off x="812800" y="2095500"/>
            <a:ext cx="10566400" cy="2667000"/>
          </a:xfrm>
          <a:prstGeom prst="rect">
            <a:avLst/>
          </a:prstGeom>
        </p:spPr>
      </p:pic>
      <p:sp>
        <p:nvSpPr>
          <p:cNvPr id="9" name="Text 6"/>
          <p:cNvSpPr/>
          <p:nvPr/>
        </p:nvSpPr>
        <p:spPr>
          <a:xfrm>
            <a:off x="2159000" y="1968500"/>
            <a:ext cx="1447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8102E"/>
                </a:solidFill>
                <a:latin typeface="Barlow Condensed" pitchFamily="34" charset="0"/>
                <a:ea typeface="Barlow Condensed" pitchFamily="34" charset="-122"/>
                <a:cs typeface="Barlow Condensed" pitchFamily="34" charset="-120"/>
              </a:rPr>
              <a:t>ARROYO</a:t>
            </a:r>
            <a:endParaRPr lang="en-US" sz="2000" dirty="0"/>
          </a:p>
        </p:txBody>
      </p:sp>
      <p:sp>
        <p:nvSpPr>
          <p:cNvPr id="10" name="Text 7"/>
          <p:cNvSpPr/>
          <p:nvPr/>
        </p:nvSpPr>
        <p:spPr>
          <a:xfrm>
            <a:off x="5651500" y="2819400"/>
            <a:ext cx="1066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181A"/>
                </a:solidFill>
                <a:latin typeface="Barlow Condensed" pitchFamily="34" charset="0"/>
                <a:ea typeface="Barlow Condensed" pitchFamily="34" charset="-122"/>
                <a:cs typeface="Barlow Condensed" pitchFamily="34" charset="-120"/>
              </a:rPr>
              <a:t>MESA</a:t>
            </a:r>
            <a:endParaRPr lang="en-US" sz="1600" dirty="0"/>
          </a:p>
        </p:txBody>
      </p:sp>
      <p:sp>
        <p:nvSpPr>
          <p:cNvPr id="11" name="Text 8"/>
          <p:cNvSpPr/>
          <p:nvPr/>
        </p:nvSpPr>
        <p:spPr>
          <a:xfrm>
            <a:off x="6426200" y="3162300"/>
            <a:ext cx="1193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181A"/>
                </a:solidFill>
                <a:latin typeface="Barlow Condensed" pitchFamily="34" charset="0"/>
                <a:ea typeface="Barlow Condensed" pitchFamily="34" charset="-122"/>
                <a:cs typeface="Barlow Condensed" pitchFamily="34" charset="-120"/>
              </a:rPr>
              <a:t>PRAIRIE</a:t>
            </a:r>
            <a:endParaRPr lang="en-US" sz="1600" dirty="0"/>
          </a:p>
        </p:txBody>
      </p:sp>
      <p:sp>
        <p:nvSpPr>
          <p:cNvPr id="12" name="Text 9"/>
          <p:cNvSpPr/>
          <p:nvPr/>
        </p:nvSpPr>
        <p:spPr>
          <a:xfrm>
            <a:off x="7683500" y="3467100"/>
            <a:ext cx="1193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181A"/>
                </a:solidFill>
                <a:latin typeface="Barlow Condensed" pitchFamily="34" charset="0"/>
                <a:ea typeface="Barlow Condensed" pitchFamily="34" charset="-122"/>
                <a:cs typeface="Barlow Condensed" pitchFamily="34" charset="-120"/>
              </a:rPr>
              <a:t>CANYON</a:t>
            </a:r>
            <a:endParaRPr lang="en-US" sz="1600" dirty="0"/>
          </a:p>
        </p:txBody>
      </p:sp>
      <p:sp>
        <p:nvSpPr>
          <p:cNvPr id="13" name="Text 10"/>
          <p:cNvSpPr/>
          <p:nvPr/>
        </p:nvSpPr>
        <p:spPr>
          <a:xfrm>
            <a:off x="8940800" y="3822700"/>
            <a:ext cx="1066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181A"/>
                </a:solidFill>
                <a:latin typeface="Barlow Condensed" pitchFamily="34" charset="0"/>
                <a:ea typeface="Barlow Condensed" pitchFamily="34" charset="-122"/>
                <a:cs typeface="Barlow Condensed" pitchFamily="34" charset="-120"/>
              </a:rPr>
              <a:t>CEDAR</a:t>
            </a:r>
            <a:endParaRPr lang="en-US" sz="1600" dirty="0"/>
          </a:p>
        </p:txBody>
      </p:sp>
      <p:sp>
        <p:nvSpPr>
          <p:cNvPr id="14" name="Text 11"/>
          <p:cNvSpPr/>
          <p:nvPr/>
        </p:nvSpPr>
        <p:spPr>
          <a:xfrm>
            <a:off x="9880600" y="3924300"/>
            <a:ext cx="1320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181A"/>
                </a:solidFill>
                <a:latin typeface="Barlow Condensed" pitchFamily="34" charset="0"/>
                <a:ea typeface="Barlow Condensed" pitchFamily="34" charset="-122"/>
                <a:cs typeface="Barlow Condensed" pitchFamily="34" charset="-120"/>
              </a:rPr>
              <a:t>JUNIPER</a:t>
            </a:r>
            <a:endParaRPr lang="en-US" sz="1600" dirty="0"/>
          </a:p>
        </p:txBody>
      </p:sp>
      <p:sp>
        <p:nvSpPr>
          <p:cNvPr id="15" name="Text 12"/>
          <p:cNvSpPr/>
          <p:nvPr/>
        </p:nvSpPr>
        <p:spPr>
          <a:xfrm>
            <a:off x="1574800" y="4724400"/>
            <a:ext cx="58864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E73"/>
                </a:solidFill>
                <a:latin typeface="Barlow" pitchFamily="34" charset="0"/>
                <a:ea typeface="Barlow" pitchFamily="34" charset="-122"/>
                <a:cs typeface="Barlow" pitchFamily="34" charset="-120"/>
              </a:rPr>
              <a:t>Fuller spare shelf → · higher = more breakdowns waited for parts</a:t>
            </a:r>
            <a:endParaRPr lang="en-US" sz="1400" dirty="0"/>
          </a:p>
        </p:txBody>
      </p:sp>
      <p:sp>
        <p:nvSpPr>
          <p:cNvPr id="16" name="Text 1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C90"/>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0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8102E"/>
                </a:solidFill>
                <a:latin typeface="IBM Plex Mono" pitchFamily="49" charset="0"/>
                <a:ea typeface="IBM Plex Mono" pitchFamily="49" charset="-122"/>
                <a:cs typeface="IBM Plex Mono" pitchFamily="49" charset="-120"/>
              </a:rPr>
              <a:t>HOW IT WORKS</a:t>
            </a:r>
            <a:endParaRPr lang="en-US" sz="1200" dirty="0"/>
          </a:p>
        </p:txBody>
      </p:sp>
      <p:sp>
        <p:nvSpPr>
          <p:cNvPr id="3" name="Text 1"/>
          <p:cNvSpPr/>
          <p:nvPr>
            <p:ph type="title"/>
          </p:nvPr>
        </p:nvSpPr>
        <p:spPr>
          <a:xfrm>
            <a:off x="812800" y="12801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7181A"/>
                </a:solidFill>
                <a:latin typeface="Barlow Condensed" pitchFamily="34" charset="0"/>
                <a:ea typeface="Barlow Condensed" pitchFamily="34" charset="-122"/>
                <a:cs typeface="Barlow Condensed" pitchFamily="34" charset="-120"/>
              </a:rPr>
              <a:t>DATA IN. PEOPLE DECIDE.</a:t>
            </a:r>
            <a:endParaRPr lang="en-US" sz="4400" dirty="0"/>
          </a:p>
        </p:txBody>
      </p:sp>
      <p:sp>
        <p:nvSpPr>
          <p:cNvPr id="4" name="Shape 2"/>
          <p:cNvSpPr/>
          <p:nvPr/>
        </p:nvSpPr>
        <p:spPr>
          <a:xfrm>
            <a:off x="819150" y="2382639"/>
            <a:ext cx="2908300" cy="2288381"/>
          </a:xfrm>
          <a:prstGeom prst="rect">
            <a:avLst/>
          </a:prstGeom>
          <a:solidFill>
            <a:srgbClr val="FBFAF7"/>
          </a:solidFill>
          <a:ln w="12700">
            <a:solidFill>
              <a:srgbClr val="17181A"/>
            </a:solidFill>
            <a:prstDash val="solid"/>
          </a:ln>
        </p:spPr>
      </p:sp>
      <p:pic>
        <p:nvPicPr>
          <p:cNvPr id="5" name="Image 0" descr="Database">    </p:cNvPr>
          <p:cNvPicPr>
            <a:picLocks noChangeAspect="1"/>
          </p:cNvPicPr>
          <p:nvPr/>
        </p:nvPicPr>
        <p:blipFill>
          <a:blip r:embed="rId1"/>
          <a:srcRect l="0" r="0" t="0" b="0"/>
          <a:stretch/>
        </p:blipFill>
        <p:spPr>
          <a:xfrm>
            <a:off x="1130300" y="2693789"/>
            <a:ext cx="457200" cy="457200"/>
          </a:xfrm>
          <a:prstGeom prst="rect">
            <a:avLst/>
          </a:prstGeom>
        </p:spPr>
      </p:pic>
      <p:sp>
        <p:nvSpPr>
          <p:cNvPr id="6" name="Text 3"/>
          <p:cNvSpPr/>
          <p:nvPr/>
        </p:nvSpPr>
        <p:spPr>
          <a:xfrm>
            <a:off x="1130300" y="3277989"/>
            <a:ext cx="2354580" cy="452041"/>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7181A"/>
                </a:solidFill>
                <a:latin typeface="Barlow Condensed" pitchFamily="34" charset="0"/>
                <a:ea typeface="Barlow Condensed" pitchFamily="34" charset="-122"/>
                <a:cs typeface="Barlow Condensed" pitchFamily="34" charset="-120"/>
              </a:rPr>
              <a:t>EXISTING DATA</a:t>
            </a:r>
            <a:endParaRPr lang="en-US" sz="2800" dirty="0"/>
          </a:p>
        </p:txBody>
      </p:sp>
      <p:sp>
        <p:nvSpPr>
          <p:cNvPr id="7" name="Text 4"/>
          <p:cNvSpPr/>
          <p:nvPr/>
        </p:nvSpPr>
        <p:spPr>
          <a:xfrm>
            <a:off x="1130300" y="3831630"/>
            <a:ext cx="235458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A4D52"/>
                </a:solidFill>
                <a:latin typeface="Barlow" pitchFamily="34" charset="0"/>
                <a:ea typeface="Barlow" pitchFamily="34" charset="-122"/>
                <a:cs typeface="Barlow" pitchFamily="34" charset="-120"/>
              </a:rPr>
              <a:t>Sensors, work orders, safety register</a:t>
            </a:r>
            <a:endParaRPr lang="en-US" sz="1600" dirty="0"/>
          </a:p>
        </p:txBody>
      </p:sp>
      <p:pic>
        <p:nvPicPr>
          <p:cNvPr id="8" name="Image 1" descr="arrow-right">    </p:cNvPr>
          <p:cNvPicPr>
            <a:picLocks noChangeAspect="1"/>
          </p:cNvPicPr>
          <p:nvPr/>
        </p:nvPicPr>
        <p:blipFill>
          <a:blip r:embed="rId2"/>
          <a:srcRect l="0" r="0" t="0" b="0"/>
          <a:stretch/>
        </p:blipFill>
        <p:spPr>
          <a:xfrm>
            <a:off x="3937000" y="3387130"/>
            <a:ext cx="508000" cy="279400"/>
          </a:xfrm>
          <a:prstGeom prst="rect">
            <a:avLst/>
          </a:prstGeom>
        </p:spPr>
      </p:pic>
      <p:sp>
        <p:nvSpPr>
          <p:cNvPr id="9" name="Shape 5"/>
          <p:cNvSpPr/>
          <p:nvPr/>
        </p:nvSpPr>
        <p:spPr>
          <a:xfrm>
            <a:off x="4654550" y="2382639"/>
            <a:ext cx="2908300" cy="2288381"/>
          </a:xfrm>
          <a:prstGeom prst="rect">
            <a:avLst/>
          </a:prstGeom>
          <a:solidFill>
            <a:srgbClr val="FBFAF7"/>
          </a:solidFill>
          <a:ln w="12700">
            <a:solidFill>
              <a:srgbClr val="17181A"/>
            </a:solidFill>
            <a:prstDash val="solid"/>
          </a:ln>
        </p:spPr>
      </p:sp>
      <p:pic>
        <p:nvPicPr>
          <p:cNvPr id="10" name="Image 2" descr="Lightbulb">    </p:cNvPr>
          <p:cNvPicPr>
            <a:picLocks noChangeAspect="1"/>
          </p:cNvPicPr>
          <p:nvPr/>
        </p:nvPicPr>
        <p:blipFill>
          <a:blip r:embed="rId3"/>
          <a:srcRect l="0" r="0" t="0" b="0"/>
          <a:stretch/>
        </p:blipFill>
        <p:spPr>
          <a:xfrm>
            <a:off x="4965700" y="2693789"/>
            <a:ext cx="457200" cy="457200"/>
          </a:xfrm>
          <a:prstGeom prst="rect">
            <a:avLst/>
          </a:prstGeom>
        </p:spPr>
      </p:pic>
      <p:sp>
        <p:nvSpPr>
          <p:cNvPr id="11" name="Text 6"/>
          <p:cNvSpPr/>
          <p:nvPr/>
        </p:nvSpPr>
        <p:spPr>
          <a:xfrm>
            <a:off x="4965700" y="3277989"/>
            <a:ext cx="2354580" cy="452041"/>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7181A"/>
                </a:solidFill>
                <a:latin typeface="Barlow Condensed" pitchFamily="34" charset="0"/>
                <a:ea typeface="Barlow Condensed" pitchFamily="34" charset="-122"/>
                <a:cs typeface="Barlow Condensed" pitchFamily="34" charset="-120"/>
              </a:rPr>
              <a:t>PARVIUS</a:t>
            </a:r>
            <a:endParaRPr lang="en-US" sz="2800" dirty="0"/>
          </a:p>
        </p:txBody>
      </p:sp>
      <p:sp>
        <p:nvSpPr>
          <p:cNvPr id="12" name="Text 7"/>
          <p:cNvSpPr/>
          <p:nvPr/>
        </p:nvSpPr>
        <p:spPr>
          <a:xfrm>
            <a:off x="4965700" y="3831630"/>
            <a:ext cx="235458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4A4D52"/>
                </a:solidFill>
                <a:latin typeface="Barlow" pitchFamily="34" charset="0"/>
                <a:ea typeface="Barlow" pitchFamily="34" charset="-122"/>
                <a:cs typeface="Barlow" pitchFamily="34" charset="-120"/>
              </a:rPr>
              <a:t>Flags risk, tracks parts, holds unsafe sites</a:t>
            </a:r>
            <a:endParaRPr lang="en-US" sz="1600" dirty="0"/>
          </a:p>
        </p:txBody>
      </p:sp>
      <p:pic>
        <p:nvPicPr>
          <p:cNvPr id="13" name="Image 3" descr="arrow-right">    </p:cNvPr>
          <p:cNvPicPr>
            <a:picLocks noChangeAspect="1"/>
          </p:cNvPicPr>
          <p:nvPr/>
        </p:nvPicPr>
        <p:blipFill>
          <a:blip r:embed="rId4"/>
          <a:srcRect l="0" r="0" t="0" b="0"/>
          <a:stretch/>
        </p:blipFill>
        <p:spPr>
          <a:xfrm>
            <a:off x="7772400" y="3387130"/>
            <a:ext cx="508000" cy="279400"/>
          </a:xfrm>
          <a:prstGeom prst="rect">
            <a:avLst/>
          </a:prstGeom>
        </p:spPr>
      </p:pic>
      <p:sp>
        <p:nvSpPr>
          <p:cNvPr id="14" name="Shape 8"/>
          <p:cNvSpPr/>
          <p:nvPr/>
        </p:nvSpPr>
        <p:spPr>
          <a:xfrm>
            <a:off x="8483600" y="2388989"/>
            <a:ext cx="2895600" cy="2275681"/>
          </a:xfrm>
          <a:prstGeom prst="rect">
            <a:avLst/>
          </a:prstGeom>
          <a:solidFill>
            <a:srgbClr val="17181A"/>
          </a:solidFill>
          <a:ln/>
        </p:spPr>
      </p:sp>
      <p:pic>
        <p:nvPicPr>
          <p:cNvPr id="15" name="Image 4" descr="Users">    </p:cNvPr>
          <p:cNvPicPr>
            <a:picLocks noChangeAspect="1"/>
          </p:cNvPicPr>
          <p:nvPr/>
        </p:nvPicPr>
        <p:blipFill>
          <a:blip r:embed="rId5"/>
          <a:srcRect l="0" r="0" t="0" b="0"/>
          <a:stretch/>
        </p:blipFill>
        <p:spPr>
          <a:xfrm>
            <a:off x="8788400" y="2693789"/>
            <a:ext cx="457200" cy="457200"/>
          </a:xfrm>
          <a:prstGeom prst="rect">
            <a:avLst/>
          </a:prstGeom>
        </p:spPr>
      </p:pic>
      <p:sp>
        <p:nvSpPr>
          <p:cNvPr id="16" name="Text 9"/>
          <p:cNvSpPr/>
          <p:nvPr/>
        </p:nvSpPr>
        <p:spPr>
          <a:xfrm>
            <a:off x="8788400" y="3277989"/>
            <a:ext cx="2354580" cy="452041"/>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F1F0EC"/>
                </a:solidFill>
                <a:latin typeface="Barlow Condensed" pitchFamily="34" charset="0"/>
                <a:ea typeface="Barlow Condensed" pitchFamily="34" charset="-122"/>
                <a:cs typeface="Barlow Condensed" pitchFamily="34" charset="-120"/>
              </a:rPr>
              <a:t>PEOPLE DECIDE</a:t>
            </a:r>
            <a:endParaRPr lang="en-US" sz="2800" dirty="0"/>
          </a:p>
        </p:txBody>
      </p:sp>
      <p:sp>
        <p:nvSpPr>
          <p:cNvPr id="17" name="Text 10"/>
          <p:cNvSpPr/>
          <p:nvPr/>
        </p:nvSpPr>
        <p:spPr>
          <a:xfrm>
            <a:off x="8788400" y="3831630"/>
            <a:ext cx="235458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D9D7D1"/>
                </a:solidFill>
                <a:latin typeface="Barlow" pitchFamily="34" charset="0"/>
                <a:ea typeface="Barlow" pitchFamily="34" charset="-122"/>
                <a:cs typeface="Barlow" pitchFamily="34" charset="-120"/>
              </a:rPr>
              <a:t>Planner, safety supervisor, manager</a:t>
            </a:r>
            <a:endParaRPr lang="en-US" sz="1600" dirty="0"/>
          </a:p>
        </p:txBody>
      </p:sp>
      <p:sp>
        <p:nvSpPr>
          <p:cNvPr id="18" name="Shape 11"/>
          <p:cNvSpPr/>
          <p:nvPr/>
        </p:nvSpPr>
        <p:spPr>
          <a:xfrm>
            <a:off x="812800" y="5221089"/>
            <a:ext cx="10566400" cy="0"/>
          </a:xfrm>
          <a:prstGeom prst="line">
            <a:avLst/>
          </a:prstGeom>
          <a:noFill/>
          <a:ln w="12700">
            <a:solidFill>
              <a:srgbClr val="C9C7C0"/>
            </a:solidFill>
            <a:prstDash val="solid"/>
          </a:ln>
        </p:spPr>
      </p:sp>
      <p:sp>
        <p:nvSpPr>
          <p:cNvPr id="19" name="Text 12"/>
          <p:cNvSpPr/>
          <p:nvPr/>
        </p:nvSpPr>
        <p:spPr>
          <a:xfrm>
            <a:off x="8128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No new systems: data the company already has</a:t>
            </a:r>
            <a:endParaRPr lang="en-US" sz="1400" dirty="0"/>
          </a:p>
        </p:txBody>
      </p:sp>
      <p:sp>
        <p:nvSpPr>
          <p:cNvPr id="20" name="Text 13"/>
          <p:cNvSpPr/>
          <p:nvPr/>
        </p:nvSpPr>
        <p:spPr>
          <a:xfrm>
            <a:off x="4419600" y="5379839"/>
            <a:ext cx="360680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Flags risk · tracks parts · holds unsafe sites</a:t>
            </a:r>
            <a:endParaRPr lang="en-US" sz="1400" dirty="0"/>
          </a:p>
        </p:txBody>
      </p:sp>
      <p:sp>
        <p:nvSpPr>
          <p:cNvPr id="21" name="Text 14"/>
          <p:cNvSpPr/>
          <p:nvPr/>
        </p:nvSpPr>
        <p:spPr>
          <a:xfrm>
            <a:off x="80264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No engineer sent without the parts · all logged</a:t>
            </a:r>
            <a:endParaRPr lang="en-US" sz="1400" dirty="0"/>
          </a:p>
        </p:txBody>
      </p:sp>
      <p:sp>
        <p:nvSpPr>
          <p:cNvPr id="22"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C90"/>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0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8102E"/>
                </a:solidFill>
                <a:latin typeface="IBM Plex Mono" pitchFamily="49" charset="0"/>
                <a:ea typeface="IBM Plex Mono" pitchFamily="49" charset="-122"/>
                <a:cs typeface="IBM Plex Mono" pitchFamily="49" charset="-120"/>
              </a:rPr>
              <a:t>THE LOGIC</a:t>
            </a:r>
            <a:endParaRPr lang="en-US" sz="1200" dirty="0"/>
          </a:p>
        </p:txBody>
      </p:sp>
      <p:sp>
        <p:nvSpPr>
          <p:cNvPr id="3" name="Text 1"/>
          <p:cNvSpPr/>
          <p:nvPr>
            <p:ph type="title"/>
          </p:nvPr>
        </p:nvSpPr>
        <p:spPr>
          <a:xfrm>
            <a:off x="812800" y="12801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7181A"/>
                </a:solidFill>
                <a:latin typeface="Barlow Condensed" pitchFamily="34" charset="0"/>
                <a:ea typeface="Barlow Condensed" pitchFamily="34" charset="-122"/>
                <a:cs typeface="Barlow Condensed" pitchFamily="34" charset="-120"/>
              </a:rPr>
              <a:t>EVERY NUMBER TRACES BACK</a:t>
            </a:r>
            <a:endParaRPr lang="en-US" sz="4400" dirty="0"/>
          </a:p>
        </p:txBody>
      </p:sp>
      <p:sp>
        <p:nvSpPr>
          <p:cNvPr id="4" name="Shape 2"/>
          <p:cNvSpPr/>
          <p:nvPr/>
        </p:nvSpPr>
        <p:spPr>
          <a:xfrm>
            <a:off x="812800" y="3067745"/>
            <a:ext cx="2146300" cy="0"/>
          </a:xfrm>
          <a:prstGeom prst="line">
            <a:avLst/>
          </a:prstGeom>
          <a:noFill/>
          <a:ln w="38100">
            <a:solidFill>
              <a:srgbClr val="17181A"/>
            </a:solidFill>
            <a:prstDash val="solid"/>
          </a:ln>
        </p:spPr>
      </p:sp>
      <p:sp>
        <p:nvSpPr>
          <p:cNvPr id="5" name="Text 3"/>
          <p:cNvSpPr/>
          <p:nvPr/>
        </p:nvSpPr>
        <p:spPr>
          <a:xfrm>
            <a:off x="812800" y="3289995"/>
            <a:ext cx="22106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E73"/>
                </a:solidFill>
                <a:latin typeface="IBM Plex Mono" pitchFamily="49" charset="0"/>
                <a:ea typeface="IBM Plex Mono" pitchFamily="49" charset="-122"/>
                <a:cs typeface="IBM Plex Mono" pitchFamily="49" charset="-120"/>
              </a:rPr>
              <a:t>WE SAW</a:t>
            </a:r>
            <a:endParaRPr lang="en-US" sz="1200" dirty="0"/>
          </a:p>
        </p:txBody>
      </p:sp>
      <p:sp>
        <p:nvSpPr>
          <p:cNvPr id="6" name="Text 4"/>
          <p:cNvSpPr/>
          <p:nvPr/>
        </p:nvSpPr>
        <p:spPr>
          <a:xfrm>
            <a:off x="812800" y="3604915"/>
            <a:ext cx="2210689" cy="4254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17181A"/>
                </a:solidFill>
                <a:latin typeface="Barlow Condensed" pitchFamily="34" charset="0"/>
                <a:ea typeface="Barlow Condensed" pitchFamily="34" charset="-122"/>
                <a:cs typeface="Barlow Condensed" pitchFamily="34" charset="-120"/>
              </a:rPr>
              <a:t>24% waiting</a:t>
            </a:r>
            <a:endParaRPr lang="en-US" sz="3000" dirty="0"/>
          </a:p>
        </p:txBody>
      </p:sp>
      <p:pic>
        <p:nvPicPr>
          <p:cNvPr id="7" name="Image 0" descr="arrow-right">    </p:cNvPr>
          <p:cNvPicPr>
            <a:picLocks noChangeAspect="1"/>
          </p:cNvPicPr>
          <p:nvPr/>
        </p:nvPicPr>
        <p:blipFill>
          <a:blip r:embed="rId1"/>
          <a:srcRect l="0" r="0" t="0" b="0"/>
          <a:stretch/>
        </p:blipFill>
        <p:spPr>
          <a:xfrm>
            <a:off x="3111500" y="3425230"/>
            <a:ext cx="355600" cy="203200"/>
          </a:xfrm>
          <a:prstGeom prst="rect">
            <a:avLst/>
          </a:prstGeom>
        </p:spPr>
      </p:pic>
      <p:sp>
        <p:nvSpPr>
          <p:cNvPr id="8" name="Shape 5"/>
          <p:cNvSpPr/>
          <p:nvPr/>
        </p:nvSpPr>
        <p:spPr>
          <a:xfrm>
            <a:off x="3619500" y="3067745"/>
            <a:ext cx="2146300" cy="0"/>
          </a:xfrm>
          <a:prstGeom prst="line">
            <a:avLst/>
          </a:prstGeom>
          <a:noFill/>
          <a:ln w="38100">
            <a:solidFill>
              <a:srgbClr val="17181A"/>
            </a:solidFill>
            <a:prstDash val="solid"/>
          </a:ln>
        </p:spPr>
      </p:sp>
      <p:sp>
        <p:nvSpPr>
          <p:cNvPr id="9" name="Text 6"/>
          <p:cNvSpPr/>
          <p:nvPr/>
        </p:nvSpPr>
        <p:spPr>
          <a:xfrm>
            <a:off x="3619500" y="3289995"/>
            <a:ext cx="22106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E73"/>
                </a:solidFill>
                <a:latin typeface="IBM Plex Mono" pitchFamily="49" charset="0"/>
                <a:ea typeface="IBM Plex Mono" pitchFamily="49" charset="-122"/>
                <a:cs typeface="IBM Plex Mono" pitchFamily="49" charset="-120"/>
              </a:rPr>
              <a:t>CASE SAYS</a:t>
            </a:r>
            <a:endParaRPr lang="en-US" sz="1200" dirty="0"/>
          </a:p>
        </p:txBody>
      </p:sp>
      <p:sp>
        <p:nvSpPr>
          <p:cNvPr id="10" name="Text 7"/>
          <p:cNvSpPr/>
          <p:nvPr/>
        </p:nvSpPr>
        <p:spPr>
          <a:xfrm>
            <a:off x="3619500" y="3604915"/>
            <a:ext cx="2210689" cy="4254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17181A"/>
                </a:solidFill>
                <a:latin typeface="Barlow Condensed" pitchFamily="34" charset="0"/>
                <a:ea typeface="Barlow Condensed" pitchFamily="34" charset="-122"/>
                <a:cs typeface="Barlow Condensed" pitchFamily="34" charset="-120"/>
              </a:rPr>
              <a:t>−60% wait</a:t>
            </a:r>
            <a:endParaRPr lang="en-US" sz="3000" dirty="0"/>
          </a:p>
        </p:txBody>
      </p:sp>
      <p:pic>
        <p:nvPicPr>
          <p:cNvPr id="11" name="Image 1" descr="arrow-right">    </p:cNvPr>
          <p:cNvPicPr>
            <a:picLocks noChangeAspect="1"/>
          </p:cNvPicPr>
          <p:nvPr/>
        </p:nvPicPr>
        <p:blipFill>
          <a:blip r:embed="rId2"/>
          <a:srcRect l="0" r="0" t="0" b="0"/>
          <a:stretch/>
        </p:blipFill>
        <p:spPr>
          <a:xfrm>
            <a:off x="5918200" y="3425230"/>
            <a:ext cx="355600" cy="203200"/>
          </a:xfrm>
          <a:prstGeom prst="rect">
            <a:avLst/>
          </a:prstGeom>
        </p:spPr>
      </p:pic>
      <p:sp>
        <p:nvSpPr>
          <p:cNvPr id="12" name="Shape 8"/>
          <p:cNvSpPr/>
          <p:nvPr/>
        </p:nvSpPr>
        <p:spPr>
          <a:xfrm>
            <a:off x="6426200" y="3067745"/>
            <a:ext cx="2146300" cy="0"/>
          </a:xfrm>
          <a:prstGeom prst="line">
            <a:avLst/>
          </a:prstGeom>
          <a:noFill/>
          <a:ln w="38100">
            <a:solidFill>
              <a:srgbClr val="17181A"/>
            </a:solidFill>
            <a:prstDash val="solid"/>
          </a:ln>
        </p:spPr>
      </p:sp>
      <p:sp>
        <p:nvSpPr>
          <p:cNvPr id="13" name="Text 9"/>
          <p:cNvSpPr/>
          <p:nvPr/>
        </p:nvSpPr>
        <p:spPr>
          <a:xfrm>
            <a:off x="6426200" y="3289995"/>
            <a:ext cx="22106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B6E73"/>
                </a:solidFill>
                <a:latin typeface="IBM Plex Mono" pitchFamily="49" charset="0"/>
                <a:ea typeface="IBM Plex Mono" pitchFamily="49" charset="-122"/>
                <a:cs typeface="IBM Plex Mono" pitchFamily="49" charset="-120"/>
              </a:rPr>
              <a:t>WE DO</a:t>
            </a:r>
            <a:endParaRPr lang="en-US" sz="1200" dirty="0"/>
          </a:p>
        </p:txBody>
      </p:sp>
      <p:sp>
        <p:nvSpPr>
          <p:cNvPr id="14" name="Text 10"/>
          <p:cNvSpPr/>
          <p:nvPr/>
        </p:nvSpPr>
        <p:spPr>
          <a:xfrm>
            <a:off x="6426200" y="3604915"/>
            <a:ext cx="2210689" cy="4254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17181A"/>
                </a:solidFill>
                <a:latin typeface="Barlow Condensed" pitchFamily="34" charset="0"/>
                <a:ea typeface="Barlow Condensed" pitchFamily="34" charset="-122"/>
                <a:cs typeface="Barlow Condensed" pitchFamily="34" charset="-120"/>
              </a:rPr>
              <a:t>Stock spares</a:t>
            </a:r>
            <a:endParaRPr lang="en-US" sz="3000" dirty="0"/>
          </a:p>
        </p:txBody>
      </p:sp>
      <p:pic>
        <p:nvPicPr>
          <p:cNvPr id="15" name="Image 2" descr="arrow-right">    </p:cNvPr>
          <p:cNvPicPr>
            <a:picLocks noChangeAspect="1"/>
          </p:cNvPicPr>
          <p:nvPr/>
        </p:nvPicPr>
        <p:blipFill>
          <a:blip r:embed="rId3"/>
          <a:srcRect l="0" r="0" t="0" b="0"/>
          <a:stretch/>
        </p:blipFill>
        <p:spPr>
          <a:xfrm>
            <a:off x="8724900" y="3425230"/>
            <a:ext cx="355600" cy="203200"/>
          </a:xfrm>
          <a:prstGeom prst="rect">
            <a:avLst/>
          </a:prstGeom>
        </p:spPr>
      </p:pic>
      <p:sp>
        <p:nvSpPr>
          <p:cNvPr id="16" name="Shape 11"/>
          <p:cNvSpPr/>
          <p:nvPr/>
        </p:nvSpPr>
        <p:spPr>
          <a:xfrm>
            <a:off x="9232900" y="3067745"/>
            <a:ext cx="2146300" cy="0"/>
          </a:xfrm>
          <a:prstGeom prst="line">
            <a:avLst/>
          </a:prstGeom>
          <a:noFill/>
          <a:ln w="38100">
            <a:solidFill>
              <a:srgbClr val="C8102E"/>
            </a:solidFill>
            <a:prstDash val="solid"/>
          </a:ln>
        </p:spPr>
      </p:sp>
      <p:sp>
        <p:nvSpPr>
          <p:cNvPr id="17" name="Text 12"/>
          <p:cNvSpPr/>
          <p:nvPr/>
        </p:nvSpPr>
        <p:spPr>
          <a:xfrm>
            <a:off x="9232900" y="3289995"/>
            <a:ext cx="22106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102E"/>
                </a:solidFill>
                <a:latin typeface="IBM Plex Mono" pitchFamily="49" charset="0"/>
                <a:ea typeface="IBM Plex Mono" pitchFamily="49" charset="-122"/>
                <a:cs typeface="IBM Plex Mono" pitchFamily="49" charset="-120"/>
              </a:rPr>
              <a:t>WE GET</a:t>
            </a:r>
            <a:endParaRPr lang="en-US" sz="1200" dirty="0"/>
          </a:p>
        </p:txBody>
      </p:sp>
      <p:sp>
        <p:nvSpPr>
          <p:cNvPr id="18" name="Text 13"/>
          <p:cNvSpPr/>
          <p:nvPr/>
        </p:nvSpPr>
        <p:spPr>
          <a:xfrm>
            <a:off x="9232900" y="3604915"/>
            <a:ext cx="2210689" cy="425450"/>
          </a:xfrm>
          <a:prstGeom prst="rect">
            <a:avLst/>
          </a:prstGeom>
          <a:noFill/>
          <a:ln/>
        </p:spPr>
        <p:txBody>
          <a:bodyPr wrap="square" lIns="0" tIns="0" rIns="0" bIns="0" rtlCol="0" anchor="t">
            <a:normAutofit/>
          </a:bodyPr>
          <a:lstStyle/>
          <a:p>
            <a:pPr algn="l" indent="0" marL="0">
              <a:lnSpc>
                <a:spcPts val="3150"/>
              </a:lnSpc>
              <a:buNone/>
            </a:pPr>
            <a:r>
              <a:rPr lang="en-US" sz="3000" b="1" dirty="0">
                <a:solidFill>
                  <a:srgbClr val="C8102E"/>
                </a:solidFill>
                <a:latin typeface="Barlow Condensed" pitchFamily="34" charset="0"/>
                <a:ea typeface="Barlow Condensed" pitchFamily="34" charset="-122"/>
                <a:cs typeface="Barlow Condensed" pitchFamily="34" charset="-120"/>
              </a:rPr>
              <a:t>968 h / yr</a:t>
            </a:r>
            <a:endParaRPr lang="en-US" sz="3000" dirty="0"/>
          </a:p>
        </p:txBody>
      </p:sp>
      <p:sp>
        <p:nvSpPr>
          <p:cNvPr id="19" name="Shape 14"/>
          <p:cNvSpPr/>
          <p:nvPr/>
        </p:nvSpPr>
        <p:spPr>
          <a:xfrm>
            <a:off x="812800" y="5221089"/>
            <a:ext cx="10566400" cy="0"/>
          </a:xfrm>
          <a:prstGeom prst="line">
            <a:avLst/>
          </a:prstGeom>
          <a:noFill/>
          <a:ln w="12700">
            <a:solidFill>
              <a:srgbClr val="C9C7C0"/>
            </a:solidFill>
            <a:prstDash val="solid"/>
          </a:ln>
        </p:spPr>
      </p:sp>
      <p:sp>
        <p:nvSpPr>
          <p:cNvPr id="20" name="Text 15"/>
          <p:cNvSpPr/>
          <p:nvPr/>
        </p:nvSpPr>
        <p:spPr>
          <a:xfrm>
            <a:off x="8128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60% cut comes from the case’s own sheet (35–75%)</a:t>
            </a:r>
            <a:endParaRPr lang="en-US" sz="1400" dirty="0"/>
          </a:p>
        </p:txBody>
      </p:sp>
      <p:sp>
        <p:nvSpPr>
          <p:cNvPr id="21" name="Text 16"/>
          <p:cNvSpPr/>
          <p:nvPr/>
        </p:nvSpPr>
        <p:spPr>
          <a:xfrm>
            <a:off x="44196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666 h in year 1, then 968 h every year</a:t>
            </a:r>
            <a:endParaRPr lang="en-US" sz="1400" dirty="0"/>
          </a:p>
        </p:txBody>
      </p:sp>
      <p:sp>
        <p:nvSpPr>
          <p:cNvPr id="22" name="Text 17"/>
          <p:cNvSpPr/>
          <p:nvPr/>
        </p:nvSpPr>
        <p:spPr>
          <a:xfrm>
            <a:off x="80264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Not claimed: injuries, repair savings, AI hours</a:t>
            </a:r>
            <a:endParaRPr lang="en-US" sz="1400" dirty="0"/>
          </a:p>
        </p:txBody>
      </p:sp>
      <p:sp>
        <p:nvSpPr>
          <p:cNvPr id="23"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C90"/>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0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8102E"/>
                </a:solidFill>
                <a:latin typeface="IBM Plex Mono" pitchFamily="49" charset="0"/>
                <a:ea typeface="IBM Plex Mono" pitchFamily="49" charset="-122"/>
                <a:cs typeface="IBM Plex Mono" pitchFamily="49" charset="-120"/>
              </a:rPr>
              <a:t>THE ROLLOUT</a:t>
            </a:r>
            <a:endParaRPr lang="en-US" sz="1200" dirty="0"/>
          </a:p>
        </p:txBody>
      </p:sp>
      <p:sp>
        <p:nvSpPr>
          <p:cNvPr id="3" name="Text 1"/>
          <p:cNvSpPr/>
          <p:nvPr>
            <p:ph type="title"/>
          </p:nvPr>
        </p:nvSpPr>
        <p:spPr>
          <a:xfrm>
            <a:off x="812800" y="12801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7181A"/>
                </a:solidFill>
                <a:latin typeface="Barlow Condensed" pitchFamily="34" charset="0"/>
                <a:ea typeface="Barlow Condensed" pitchFamily="34" charset="-122"/>
                <a:cs typeface="Barlow Condensed" pitchFamily="34" charset="-120"/>
              </a:rPr>
              <a:t>SAFETY FIRST, THEN SITE BY SITE</a:t>
            </a:r>
            <a:endParaRPr lang="en-US" sz="4400" dirty="0"/>
          </a:p>
        </p:txBody>
      </p:sp>
      <p:sp>
        <p:nvSpPr>
          <p:cNvPr id="4" name="Text 2"/>
          <p:cNvSpPr/>
          <p:nvPr/>
        </p:nvSpPr>
        <p:spPr>
          <a:xfrm>
            <a:off x="812800" y="2791420"/>
            <a:ext cx="89618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8102E"/>
                </a:solidFill>
                <a:latin typeface="IBM Plex Mono" pitchFamily="49" charset="0"/>
                <a:ea typeface="IBM Plex Mono" pitchFamily="49" charset="-122"/>
                <a:cs typeface="IBM Plex Mono" pitchFamily="49" charset="-120"/>
              </a:rPr>
              <a:t>MONTH 0</a:t>
            </a:r>
            <a:endParaRPr lang="en-US" sz="1400" dirty="0"/>
          </a:p>
        </p:txBody>
      </p:sp>
      <p:pic>
        <p:nvPicPr>
          <p:cNvPr id="5" name="Image 0" descr="ellipse">    </p:cNvPr>
          <p:cNvPicPr>
            <a:picLocks noChangeAspect="1"/>
          </p:cNvPicPr>
          <p:nvPr/>
        </p:nvPicPr>
        <p:blipFill>
          <a:blip r:embed="rId1"/>
          <a:srcRect l="0" r="0" t="0" b="0"/>
          <a:stretch/>
        </p:blipFill>
        <p:spPr>
          <a:xfrm>
            <a:off x="812800" y="3167261"/>
            <a:ext cx="254000" cy="254000"/>
          </a:xfrm>
          <a:prstGeom prst="rect">
            <a:avLst/>
          </a:prstGeom>
        </p:spPr>
      </p:pic>
      <p:sp>
        <p:nvSpPr>
          <p:cNvPr id="6" name="Text 3"/>
          <p:cNvSpPr/>
          <p:nvPr/>
        </p:nvSpPr>
        <p:spPr>
          <a:xfrm>
            <a:off x="812800" y="3548261"/>
            <a:ext cx="2051060" cy="665361"/>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7181A"/>
                </a:solidFill>
                <a:latin typeface="Barlow Condensed" pitchFamily="34" charset="0"/>
                <a:ea typeface="Barlow Condensed" pitchFamily="34" charset="-122"/>
                <a:cs typeface="Barlow Condensed" pitchFamily="34" charset="-120"/>
              </a:rPr>
              <a:t>FIX OVERDUE SAFETY ACTIONS</a:t>
            </a:r>
            <a:endParaRPr lang="en-US" sz="2400" dirty="0"/>
          </a:p>
        </p:txBody>
      </p:sp>
      <p:sp>
        <p:nvSpPr>
          <p:cNvPr id="7" name="Text 4"/>
          <p:cNvSpPr/>
          <p:nvPr/>
        </p:nvSpPr>
        <p:spPr>
          <a:xfrm>
            <a:off x="2956520" y="2791420"/>
            <a:ext cx="89618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B6E73"/>
                </a:solidFill>
                <a:latin typeface="IBM Plex Mono" pitchFamily="49" charset="0"/>
                <a:ea typeface="IBM Plex Mono" pitchFamily="49" charset="-122"/>
                <a:cs typeface="IBM Plex Mono" pitchFamily="49" charset="-120"/>
              </a:rPr>
              <a:t>MONTH 1</a:t>
            </a:r>
            <a:endParaRPr lang="en-US" sz="1400" dirty="0"/>
          </a:p>
        </p:txBody>
      </p:sp>
      <p:pic>
        <p:nvPicPr>
          <p:cNvPr id="8" name="Image 1" descr="ellipse">    </p:cNvPr>
          <p:cNvPicPr>
            <a:picLocks noChangeAspect="1"/>
          </p:cNvPicPr>
          <p:nvPr/>
        </p:nvPicPr>
        <p:blipFill>
          <a:blip r:embed="rId2"/>
          <a:srcRect l="0" r="0" t="0" b="0"/>
          <a:stretch/>
        </p:blipFill>
        <p:spPr>
          <a:xfrm>
            <a:off x="2956520" y="3167261"/>
            <a:ext cx="254000" cy="254000"/>
          </a:xfrm>
          <a:prstGeom prst="rect">
            <a:avLst/>
          </a:prstGeom>
        </p:spPr>
      </p:pic>
      <p:sp>
        <p:nvSpPr>
          <p:cNvPr id="9" name="Text 5"/>
          <p:cNvSpPr/>
          <p:nvPr/>
        </p:nvSpPr>
        <p:spPr>
          <a:xfrm>
            <a:off x="2956520" y="3548261"/>
            <a:ext cx="2143820" cy="34538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7181A"/>
                </a:solidFill>
                <a:latin typeface="Barlow Condensed" pitchFamily="34" charset="0"/>
                <a:ea typeface="Barlow Condensed" pitchFamily="34" charset="-122"/>
                <a:cs typeface="Barlow Condensed" pitchFamily="34" charset="-120"/>
              </a:rPr>
              <a:t>PILOT AT CANYON</a:t>
            </a:r>
            <a:endParaRPr lang="en-US" sz="2400" dirty="0"/>
          </a:p>
        </p:txBody>
      </p:sp>
      <p:sp>
        <p:nvSpPr>
          <p:cNvPr id="10" name="Text 6"/>
          <p:cNvSpPr/>
          <p:nvPr/>
        </p:nvSpPr>
        <p:spPr>
          <a:xfrm>
            <a:off x="5100340" y="2791420"/>
            <a:ext cx="89618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B6E73"/>
                </a:solidFill>
                <a:latin typeface="IBM Plex Mono" pitchFamily="49" charset="0"/>
                <a:ea typeface="IBM Plex Mono" pitchFamily="49" charset="-122"/>
                <a:cs typeface="IBM Plex Mono" pitchFamily="49" charset="-120"/>
              </a:rPr>
              <a:t>MONTH 2</a:t>
            </a:r>
            <a:endParaRPr lang="en-US" sz="1400" dirty="0"/>
          </a:p>
        </p:txBody>
      </p:sp>
      <p:pic>
        <p:nvPicPr>
          <p:cNvPr id="11" name="Image 2" descr="ellipse">    </p:cNvPr>
          <p:cNvPicPr>
            <a:picLocks noChangeAspect="1"/>
          </p:cNvPicPr>
          <p:nvPr/>
        </p:nvPicPr>
        <p:blipFill>
          <a:blip r:embed="rId3"/>
          <a:srcRect l="0" r="0" t="0" b="0"/>
          <a:stretch/>
        </p:blipFill>
        <p:spPr>
          <a:xfrm>
            <a:off x="5100340" y="3167261"/>
            <a:ext cx="254000" cy="254000"/>
          </a:xfrm>
          <a:prstGeom prst="rect">
            <a:avLst/>
          </a:prstGeom>
        </p:spPr>
      </p:pic>
      <p:sp>
        <p:nvSpPr>
          <p:cNvPr id="12" name="Text 7"/>
          <p:cNvSpPr/>
          <p:nvPr/>
        </p:nvSpPr>
        <p:spPr>
          <a:xfrm>
            <a:off x="5100340" y="3548261"/>
            <a:ext cx="2143720" cy="34538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7181A"/>
                </a:solidFill>
                <a:latin typeface="Barlow Condensed" pitchFamily="34" charset="0"/>
                <a:ea typeface="Barlow Condensed" pitchFamily="34" charset="-122"/>
                <a:cs typeface="Barlow Condensed" pitchFamily="34" charset="-120"/>
              </a:rPr>
              <a:t>CEDAR + JUNIPER</a:t>
            </a:r>
            <a:endParaRPr lang="en-US" sz="2400" dirty="0"/>
          </a:p>
        </p:txBody>
      </p:sp>
      <p:sp>
        <p:nvSpPr>
          <p:cNvPr id="13" name="Text 8"/>
          <p:cNvSpPr/>
          <p:nvPr/>
        </p:nvSpPr>
        <p:spPr>
          <a:xfrm>
            <a:off x="7244060" y="2791420"/>
            <a:ext cx="89618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B6E73"/>
                </a:solidFill>
                <a:latin typeface="IBM Plex Mono" pitchFamily="49" charset="0"/>
                <a:ea typeface="IBM Plex Mono" pitchFamily="49" charset="-122"/>
                <a:cs typeface="IBM Plex Mono" pitchFamily="49" charset="-120"/>
              </a:rPr>
              <a:t>MONTH 4</a:t>
            </a:r>
            <a:endParaRPr lang="en-US" sz="1400" dirty="0"/>
          </a:p>
        </p:txBody>
      </p:sp>
      <p:pic>
        <p:nvPicPr>
          <p:cNvPr id="14" name="Image 3" descr="ellipse">    </p:cNvPr>
          <p:cNvPicPr>
            <a:picLocks noChangeAspect="1"/>
          </p:cNvPicPr>
          <p:nvPr/>
        </p:nvPicPr>
        <p:blipFill>
          <a:blip r:embed="rId4"/>
          <a:srcRect l="0" r="0" t="0" b="0"/>
          <a:stretch/>
        </p:blipFill>
        <p:spPr>
          <a:xfrm>
            <a:off x="7244060" y="3167261"/>
            <a:ext cx="254000" cy="254000"/>
          </a:xfrm>
          <a:prstGeom prst="rect">
            <a:avLst/>
          </a:prstGeom>
        </p:spPr>
      </p:pic>
      <p:sp>
        <p:nvSpPr>
          <p:cNvPr id="15" name="Text 9"/>
          <p:cNvSpPr/>
          <p:nvPr/>
        </p:nvSpPr>
        <p:spPr>
          <a:xfrm>
            <a:off x="7244060" y="3548261"/>
            <a:ext cx="1027152" cy="34538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7181A"/>
                </a:solidFill>
                <a:latin typeface="Barlow Condensed" pitchFamily="34" charset="0"/>
                <a:ea typeface="Barlow Condensed" pitchFamily="34" charset="-122"/>
                <a:cs typeface="Barlow Condensed" pitchFamily="34" charset="-120"/>
              </a:rPr>
              <a:t>ARROYO</a:t>
            </a:r>
            <a:endParaRPr lang="en-US" sz="2400" dirty="0"/>
          </a:p>
        </p:txBody>
      </p:sp>
      <p:sp>
        <p:nvSpPr>
          <p:cNvPr id="16" name="Text 10"/>
          <p:cNvSpPr/>
          <p:nvPr/>
        </p:nvSpPr>
        <p:spPr>
          <a:xfrm>
            <a:off x="9387880" y="2791420"/>
            <a:ext cx="89618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B6E73"/>
                </a:solidFill>
                <a:latin typeface="IBM Plex Mono" pitchFamily="49" charset="0"/>
                <a:ea typeface="IBM Plex Mono" pitchFamily="49" charset="-122"/>
                <a:cs typeface="IBM Plex Mono" pitchFamily="49" charset="-120"/>
              </a:rPr>
              <a:t>MONTH 5</a:t>
            </a:r>
            <a:endParaRPr lang="en-US" sz="1400" dirty="0"/>
          </a:p>
        </p:txBody>
      </p:sp>
      <p:pic>
        <p:nvPicPr>
          <p:cNvPr id="17" name="Image 4" descr="ellipse">    </p:cNvPr>
          <p:cNvPicPr>
            <a:picLocks noChangeAspect="1"/>
          </p:cNvPicPr>
          <p:nvPr/>
        </p:nvPicPr>
        <p:blipFill>
          <a:blip r:embed="rId5"/>
          <a:srcRect l="0" r="0" t="0" b="0"/>
          <a:stretch/>
        </p:blipFill>
        <p:spPr>
          <a:xfrm>
            <a:off x="9387880" y="3167261"/>
            <a:ext cx="254000" cy="254000"/>
          </a:xfrm>
          <a:prstGeom prst="rect">
            <a:avLst/>
          </a:prstGeom>
        </p:spPr>
      </p:pic>
      <p:sp>
        <p:nvSpPr>
          <p:cNvPr id="18" name="Text 11"/>
          <p:cNvSpPr/>
          <p:nvPr/>
        </p:nvSpPr>
        <p:spPr>
          <a:xfrm>
            <a:off x="9387880" y="3548261"/>
            <a:ext cx="2027158" cy="34538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17181A"/>
                </a:solidFill>
                <a:latin typeface="Barlow Condensed" pitchFamily="34" charset="0"/>
                <a:ea typeface="Barlow Condensed" pitchFamily="34" charset="-122"/>
                <a:cs typeface="Barlow Condensed" pitchFamily="34" charset="-120"/>
              </a:rPr>
              <a:t>MESA + PRAIRIE</a:t>
            </a:r>
            <a:endParaRPr lang="en-US" sz="2400" dirty="0"/>
          </a:p>
        </p:txBody>
      </p:sp>
      <p:sp>
        <p:nvSpPr>
          <p:cNvPr id="19" name="Shape 12"/>
          <p:cNvSpPr/>
          <p:nvPr/>
        </p:nvSpPr>
        <p:spPr>
          <a:xfrm>
            <a:off x="812800" y="3242270"/>
            <a:ext cx="10566400" cy="38100"/>
          </a:xfrm>
          <a:prstGeom prst="rect">
            <a:avLst/>
          </a:prstGeom>
          <a:solidFill>
            <a:srgbClr val="B8B6AF"/>
          </a:solidFill>
          <a:ln/>
        </p:spPr>
      </p:sp>
      <p:sp>
        <p:nvSpPr>
          <p:cNvPr id="20" name="Shape 13"/>
          <p:cNvSpPr/>
          <p:nvPr/>
        </p:nvSpPr>
        <p:spPr>
          <a:xfrm>
            <a:off x="812800" y="5452170"/>
            <a:ext cx="10566400" cy="0"/>
          </a:xfrm>
          <a:prstGeom prst="line">
            <a:avLst/>
          </a:prstGeom>
          <a:noFill/>
          <a:ln w="12700">
            <a:solidFill>
              <a:srgbClr val="C9C7C0"/>
            </a:solidFill>
            <a:prstDash val="solid"/>
          </a:ln>
        </p:spPr>
      </p:sp>
      <p:sp>
        <p:nvSpPr>
          <p:cNvPr id="21" name="Text 14"/>
          <p:cNvSpPr/>
          <p:nvPr/>
        </p:nvSpPr>
        <p:spPr>
          <a:xfrm>
            <a:off x="812800" y="5610920"/>
            <a:ext cx="34533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Safety supervisors start; planners follow</a:t>
            </a:r>
            <a:endParaRPr lang="en-US" sz="1400" dirty="0"/>
          </a:p>
        </p:txBody>
      </p:sp>
      <p:sp>
        <p:nvSpPr>
          <p:cNvPr id="22" name="Text 15"/>
          <p:cNvSpPr/>
          <p:nvPr/>
        </p:nvSpPr>
        <p:spPr>
          <a:xfrm>
            <a:off x="4419600" y="5610920"/>
            <a:ext cx="34533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Arroyo only after its safety is verified</a:t>
            </a:r>
            <a:endParaRPr lang="en-US" sz="1400" dirty="0"/>
          </a:p>
        </p:txBody>
      </p:sp>
      <p:sp>
        <p:nvSpPr>
          <p:cNvPr id="23" name="Text 16"/>
          <p:cNvSpPr/>
          <p:nvPr/>
        </p:nvSpPr>
        <p:spPr>
          <a:xfrm>
            <a:off x="8026400" y="5610920"/>
            <a:ext cx="34533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Pilot test: Canyon shelf ≥ 90% by month 3</a:t>
            </a:r>
            <a:endParaRPr lang="en-US" sz="1400" dirty="0"/>
          </a:p>
        </p:txBody>
      </p:sp>
      <p:sp>
        <p:nvSpPr>
          <p:cNvPr id="24" name="Text 1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C90"/>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0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8102E"/>
                </a:solidFill>
                <a:latin typeface="IBM Plex Mono" pitchFamily="49" charset="0"/>
                <a:ea typeface="IBM Plex Mono" pitchFamily="49" charset="-122"/>
                <a:cs typeface="IBM Plex Mono" pitchFamily="49" charset="-120"/>
              </a:rPr>
              <a:t>THE COST</a:t>
            </a:r>
            <a:endParaRPr lang="en-US" sz="1200" dirty="0"/>
          </a:p>
        </p:txBody>
      </p:sp>
      <p:sp>
        <p:nvSpPr>
          <p:cNvPr id="3" name="Text 1"/>
          <p:cNvSpPr/>
          <p:nvPr>
            <p:ph type="title"/>
          </p:nvPr>
        </p:nvSpPr>
        <p:spPr>
          <a:xfrm>
            <a:off x="812800" y="12801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7181A"/>
                </a:solidFill>
                <a:latin typeface="Barlow Condensed" pitchFamily="34" charset="0"/>
                <a:ea typeface="Barlow Condensed" pitchFamily="34" charset="-122"/>
                <a:cs typeface="Barlow Condensed" pitchFamily="34" charset="-120"/>
              </a:rPr>
              <a:t>ONE PROGRAM, ONE PRICE</a:t>
            </a:r>
            <a:endParaRPr lang="en-US" sz="4400" dirty="0"/>
          </a:p>
        </p:txBody>
      </p:sp>
      <p:sp>
        <p:nvSpPr>
          <p:cNvPr id="4" name="Text 2"/>
          <p:cNvSpPr/>
          <p:nvPr/>
        </p:nvSpPr>
        <p:spPr>
          <a:xfrm>
            <a:off x="812800" y="2727920"/>
            <a:ext cx="4864695" cy="1397000"/>
          </a:xfrm>
          <a:prstGeom prst="rect">
            <a:avLst/>
          </a:prstGeom>
          <a:noFill/>
          <a:ln/>
        </p:spPr>
        <p:txBody>
          <a:bodyPr wrap="square" lIns="0" tIns="0" rIns="0" bIns="0" rtlCol="0" anchor="t">
            <a:normAutofit/>
          </a:bodyPr>
          <a:lstStyle/>
          <a:p>
            <a:pPr algn="l" indent="0" marL="0">
              <a:lnSpc>
                <a:spcPts val="10800"/>
              </a:lnSpc>
              <a:buNone/>
            </a:pPr>
            <a:r>
              <a:rPr lang="en-US" sz="12000" b="1" dirty="0">
                <a:solidFill>
                  <a:srgbClr val="17181A"/>
                </a:solidFill>
                <a:latin typeface="Barlow Condensed" pitchFamily="34" charset="0"/>
                <a:ea typeface="Barlow Condensed" pitchFamily="34" charset="-122"/>
                <a:cs typeface="Barlow Condensed" pitchFamily="34" charset="-120"/>
              </a:rPr>
              <a:t>$227.5k</a:t>
            </a:r>
            <a:endParaRPr lang="en-US" sz="12000" dirty="0"/>
          </a:p>
        </p:txBody>
      </p:sp>
      <p:sp>
        <p:nvSpPr>
          <p:cNvPr id="5" name="Text 3"/>
          <p:cNvSpPr/>
          <p:nvPr/>
        </p:nvSpPr>
        <p:spPr>
          <a:xfrm>
            <a:off x="812800" y="4201120"/>
            <a:ext cx="4382748"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4A4D52"/>
                </a:solidFill>
                <a:latin typeface="Barlow" pitchFamily="34" charset="0"/>
                <a:ea typeface="Barlow" pitchFamily="34" charset="-122"/>
                <a:cs typeface="Barlow" pitchFamily="34" charset="-120"/>
              </a:rPr>
              <a:t>to start, then $19.5k a year</a:t>
            </a:r>
            <a:endParaRPr lang="en-US" sz="2000" dirty="0"/>
          </a:p>
        </p:txBody>
      </p:sp>
      <p:sp>
        <p:nvSpPr>
          <p:cNvPr id="6" name="Shape 4"/>
          <p:cNvSpPr/>
          <p:nvPr/>
        </p:nvSpPr>
        <p:spPr>
          <a:xfrm>
            <a:off x="5702895" y="2824460"/>
            <a:ext cx="0" cy="728960"/>
          </a:xfrm>
          <a:prstGeom prst="line">
            <a:avLst/>
          </a:prstGeom>
          <a:noFill/>
          <a:ln w="50800">
            <a:solidFill>
              <a:srgbClr val="17181A"/>
            </a:solidFill>
            <a:prstDash val="solid"/>
          </a:ln>
        </p:spPr>
      </p:sp>
      <p:sp>
        <p:nvSpPr>
          <p:cNvPr id="7" name="Text 5"/>
          <p:cNvSpPr/>
          <p:nvPr/>
        </p:nvSpPr>
        <p:spPr>
          <a:xfrm>
            <a:off x="5906095" y="2849860"/>
            <a:ext cx="563729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7181A"/>
                </a:solidFill>
                <a:latin typeface="Barlow Condensed" pitchFamily="34" charset="0"/>
                <a:ea typeface="Barlow Condensed" pitchFamily="34" charset="-122"/>
                <a:cs typeface="Barlow Condensed" pitchFamily="34" charset="-120"/>
              </a:rPr>
              <a:t>$168k</a:t>
            </a:r>
            <a:endParaRPr lang="en-US" sz="2800" dirty="0"/>
          </a:p>
        </p:txBody>
      </p:sp>
      <p:sp>
        <p:nvSpPr>
          <p:cNvPr id="8" name="Text 6"/>
          <p:cNvSpPr/>
          <p:nvPr/>
        </p:nvSpPr>
        <p:spPr>
          <a:xfrm>
            <a:off x="5906095" y="3243560"/>
            <a:ext cx="563729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D52"/>
                </a:solidFill>
                <a:latin typeface="Barlow" pitchFamily="34" charset="0"/>
                <a:ea typeface="Barlow" pitchFamily="34" charset="-122"/>
                <a:cs typeface="Barlow" pitchFamily="34" charset="-120"/>
              </a:rPr>
              <a:t>spare parts, all 6 sites</a:t>
            </a:r>
            <a:endParaRPr lang="en-US" sz="1600" dirty="0"/>
          </a:p>
        </p:txBody>
      </p:sp>
      <p:sp>
        <p:nvSpPr>
          <p:cNvPr id="9" name="Shape 7"/>
          <p:cNvSpPr/>
          <p:nvPr/>
        </p:nvSpPr>
        <p:spPr>
          <a:xfrm>
            <a:off x="5702895" y="3731220"/>
            <a:ext cx="0" cy="728960"/>
          </a:xfrm>
          <a:prstGeom prst="line">
            <a:avLst/>
          </a:prstGeom>
          <a:noFill/>
          <a:ln w="50800">
            <a:solidFill>
              <a:srgbClr val="F2A93B"/>
            </a:solidFill>
            <a:prstDash val="solid"/>
          </a:ln>
        </p:spPr>
      </p:sp>
      <p:sp>
        <p:nvSpPr>
          <p:cNvPr id="10" name="Text 8"/>
          <p:cNvSpPr/>
          <p:nvPr/>
        </p:nvSpPr>
        <p:spPr>
          <a:xfrm>
            <a:off x="5906095" y="3756620"/>
            <a:ext cx="563729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17181A"/>
                </a:solidFill>
                <a:latin typeface="Barlow Condensed" pitchFamily="34" charset="0"/>
                <a:ea typeface="Barlow Condensed" pitchFamily="34" charset="-122"/>
                <a:cs typeface="Barlow Condensed" pitchFamily="34" charset="-120"/>
              </a:rPr>
              <a:t>$59.5k</a:t>
            </a:r>
            <a:endParaRPr lang="en-US" sz="2800" dirty="0"/>
          </a:p>
        </p:txBody>
      </p:sp>
      <p:sp>
        <p:nvSpPr>
          <p:cNvPr id="11" name="Text 9"/>
          <p:cNvSpPr/>
          <p:nvPr/>
        </p:nvSpPr>
        <p:spPr>
          <a:xfrm>
            <a:off x="5906095" y="4150320"/>
            <a:ext cx="563729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D52"/>
                </a:solidFill>
                <a:latin typeface="Barlow" pitchFamily="34" charset="0"/>
                <a:ea typeface="Barlow" pitchFamily="34" charset="-122"/>
                <a:cs typeface="Barlow" pitchFamily="34" charset="-120"/>
              </a:rPr>
              <a:t>overdue safety fixes</a:t>
            </a:r>
            <a:endParaRPr lang="en-US" sz="1600" dirty="0"/>
          </a:p>
        </p:txBody>
      </p:sp>
      <p:sp>
        <p:nvSpPr>
          <p:cNvPr id="12" name="Shape 10"/>
          <p:cNvSpPr/>
          <p:nvPr/>
        </p:nvSpPr>
        <p:spPr>
          <a:xfrm>
            <a:off x="812800" y="5452170"/>
            <a:ext cx="10566400" cy="0"/>
          </a:xfrm>
          <a:prstGeom prst="line">
            <a:avLst/>
          </a:prstGeom>
          <a:noFill/>
          <a:ln w="12700">
            <a:solidFill>
              <a:srgbClr val="C9C7C0"/>
            </a:solidFill>
            <a:prstDash val="solid"/>
          </a:ln>
        </p:spPr>
      </p:sp>
      <p:sp>
        <p:nvSpPr>
          <p:cNvPr id="13" name="Text 11"/>
          <p:cNvSpPr/>
          <p:nvPr/>
        </p:nvSpPr>
        <p:spPr>
          <a:xfrm>
            <a:off x="812800" y="5610920"/>
            <a:ext cx="34533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$168k spare parts + $59.5k safety fixes</a:t>
            </a:r>
            <a:endParaRPr lang="en-US" sz="1400" dirty="0"/>
          </a:p>
        </p:txBody>
      </p:sp>
      <p:sp>
        <p:nvSpPr>
          <p:cNvPr id="14" name="Text 12"/>
          <p:cNvSpPr/>
          <p:nvPr/>
        </p:nvSpPr>
        <p:spPr>
          <a:xfrm>
            <a:off x="4419600" y="5610920"/>
            <a:ext cx="34533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$33k of the safety work unlocks 3 sites</a:t>
            </a:r>
            <a:endParaRPr lang="en-US" sz="1400" dirty="0"/>
          </a:p>
        </p:txBody>
      </p:sp>
      <p:sp>
        <p:nvSpPr>
          <p:cNvPr id="15" name="Text 13"/>
          <p:cNvSpPr/>
          <p:nvPr/>
        </p:nvSpPr>
        <p:spPr>
          <a:xfrm>
            <a:off x="8026400" y="5610920"/>
            <a:ext cx="34533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Fits staff hours · Arroyo uses 44 of 120</a:t>
            </a:r>
            <a:endParaRPr lang="en-US" sz="1400" dirty="0"/>
          </a:p>
        </p:txBody>
      </p:sp>
      <p:sp>
        <p:nvSpPr>
          <p:cNvPr id="16" name="Text 14"/>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C90"/>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81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93B"/>
                </a:solidFill>
                <a:latin typeface="IBM Plex Mono" pitchFamily="49" charset="0"/>
                <a:ea typeface="IBM Plex Mono" pitchFamily="49" charset="-122"/>
                <a:cs typeface="IBM Plex Mono" pitchFamily="49" charset="-120"/>
              </a:rPr>
              <a:t>THE RETURN</a:t>
            </a:r>
            <a:endParaRPr lang="en-US" sz="1200" dirty="0"/>
          </a:p>
        </p:txBody>
      </p:sp>
      <p:sp>
        <p:nvSpPr>
          <p:cNvPr id="3" name="Text 1"/>
          <p:cNvSpPr/>
          <p:nvPr>
            <p:ph type="title"/>
          </p:nvPr>
        </p:nvSpPr>
        <p:spPr>
          <a:xfrm>
            <a:off x="812800" y="12801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F1F0EC"/>
                </a:solidFill>
                <a:latin typeface="Barlow Condensed" pitchFamily="34" charset="0"/>
                <a:ea typeface="Barlow Condensed" pitchFamily="34" charset="-122"/>
                <a:cs typeface="Barlow Condensed" pitchFamily="34" charset="-120"/>
              </a:rPr>
              <a:t>PAID BACK IN 8 MONTHS</a:t>
            </a:r>
            <a:endParaRPr lang="en-US" sz="4400" dirty="0"/>
          </a:p>
        </p:txBody>
      </p:sp>
      <p:sp>
        <p:nvSpPr>
          <p:cNvPr id="4" name="Shape 2"/>
          <p:cNvSpPr/>
          <p:nvPr/>
        </p:nvSpPr>
        <p:spPr>
          <a:xfrm>
            <a:off x="812800" y="5452170"/>
            <a:ext cx="10566400" cy="0"/>
          </a:xfrm>
          <a:prstGeom prst="line">
            <a:avLst/>
          </a:prstGeom>
          <a:noFill/>
          <a:ln w="12700">
            <a:solidFill>
              <a:srgbClr val="3A3C40"/>
            </a:solidFill>
            <a:prstDash val="solid"/>
          </a:ln>
        </p:spPr>
      </p:sp>
      <p:sp>
        <p:nvSpPr>
          <p:cNvPr id="5" name="Text 3"/>
          <p:cNvSpPr/>
          <p:nvPr/>
        </p:nvSpPr>
        <p:spPr>
          <a:xfrm>
            <a:off x="812800" y="5610920"/>
            <a:ext cx="34533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A93B"/>
                </a:solidFill>
                <a:latin typeface="Barlow" pitchFamily="34" charset="0"/>
                <a:ea typeface="Barlow" pitchFamily="34" charset="-122"/>
                <a:cs typeface="Barlow" pitchFamily="34" charset="-120"/>
              </a:rPr>
              <a:t>•</a:t>
            </a:r>
            <a:r>
              <a:rPr lang="en-US" sz="1400" dirty="0">
                <a:solidFill>
                  <a:srgbClr val="C9CBCE"/>
                </a:solidFill>
                <a:latin typeface="Barlow" pitchFamily="34" charset="0"/>
                <a:ea typeface="Barlow" pitchFamily="34" charset="-122"/>
                <a:cs typeface="Barlow" pitchFamily="34" charset="-120"/>
              </a:rPr>
              <a:t> Small dip while sites are stocked</a:t>
            </a:r>
            <a:endParaRPr lang="en-US" sz="1400" dirty="0"/>
          </a:p>
        </p:txBody>
      </p:sp>
      <p:sp>
        <p:nvSpPr>
          <p:cNvPr id="6" name="Text 4"/>
          <p:cNvSpPr/>
          <p:nvPr/>
        </p:nvSpPr>
        <p:spPr>
          <a:xfrm>
            <a:off x="4419600" y="5610920"/>
            <a:ext cx="34533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A93B"/>
                </a:solidFill>
                <a:latin typeface="Barlow" pitchFamily="34" charset="0"/>
                <a:ea typeface="Barlow" pitchFamily="34" charset="-122"/>
                <a:cs typeface="Barlow" pitchFamily="34" charset="-120"/>
              </a:rPr>
              <a:t>•</a:t>
            </a:r>
            <a:r>
              <a:rPr lang="en-US" sz="1400" dirty="0">
                <a:solidFill>
                  <a:srgbClr val="C9CBCE"/>
                </a:solidFill>
                <a:latin typeface="Barlow" pitchFamily="34" charset="0"/>
                <a:ea typeface="Barlow" pitchFamily="34" charset="-122"/>
                <a:cs typeface="Barlow" pitchFamily="34" charset="-120"/>
              </a:rPr>
              <a:t> ≈ 8× the cost · +$1.98M by year 3</a:t>
            </a:r>
            <a:endParaRPr lang="en-US" sz="1400" dirty="0"/>
          </a:p>
        </p:txBody>
      </p:sp>
      <p:sp>
        <p:nvSpPr>
          <p:cNvPr id="7" name="Text 5"/>
          <p:cNvSpPr/>
          <p:nvPr/>
        </p:nvSpPr>
        <p:spPr>
          <a:xfrm>
            <a:off x="8026400" y="5610920"/>
            <a:ext cx="345338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2A93B"/>
                </a:solidFill>
                <a:latin typeface="Barlow" pitchFamily="34" charset="0"/>
                <a:ea typeface="Barlow" pitchFamily="34" charset="-122"/>
                <a:cs typeface="Barlow" pitchFamily="34" charset="-120"/>
              </a:rPr>
              <a:t>•</a:t>
            </a:r>
            <a:r>
              <a:rPr lang="en-US" sz="1400" dirty="0">
                <a:solidFill>
                  <a:srgbClr val="C9CBCE"/>
                </a:solidFill>
                <a:latin typeface="Barlow" pitchFamily="34" charset="0"/>
                <a:ea typeface="Barlow" pitchFamily="34" charset="-122"/>
                <a:cs typeface="Barlow" pitchFamily="34" charset="-120"/>
              </a:rPr>
              <a:t> Worst case still pays back by month 16</a:t>
            </a:r>
            <a:endParaRPr lang="en-US" sz="1400" dirty="0"/>
          </a:p>
        </p:txBody>
      </p:sp>
      <p:pic>
        <p:nvPicPr>
          <p:cNvPr id="8" name="Image 0" descr="Cumulative return over 36 months: a small dip while sites are stocked, back above zero in month 8, about 1.98 million dollars by year 3">    </p:cNvPr>
          <p:cNvPicPr>
            <a:picLocks noChangeAspect="1"/>
          </p:cNvPicPr>
          <p:nvPr/>
        </p:nvPicPr>
        <p:blipFill>
          <a:blip r:embed="rId1"/>
          <a:srcRect l="0" r="0" t="-31" b="-31"/>
          <a:stretch/>
        </p:blipFill>
        <p:spPr>
          <a:xfrm>
            <a:off x="812800" y="2095500"/>
            <a:ext cx="10566400" cy="2540000"/>
          </a:xfrm>
          <a:prstGeom prst="rect">
            <a:avLst/>
          </a:prstGeom>
        </p:spPr>
      </p:pic>
      <p:sp>
        <p:nvSpPr>
          <p:cNvPr id="9" name="Text 6"/>
          <p:cNvSpPr/>
          <p:nvPr/>
        </p:nvSpPr>
        <p:spPr>
          <a:xfrm>
            <a:off x="2984500" y="4368800"/>
            <a:ext cx="274701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F6B7F"/>
                </a:solidFill>
                <a:latin typeface="Barlow Condensed" pitchFamily="34" charset="0"/>
                <a:ea typeface="Barlow Condensed" pitchFamily="34" charset="-122"/>
                <a:cs typeface="Barlow Condensed" pitchFamily="34" charset="-120"/>
              </a:rPr>
              <a:t>MONTH 8</a:t>
            </a:r>
            <a:endParaRPr lang="en-US" sz="2200" dirty="0"/>
          </a:p>
        </p:txBody>
      </p:sp>
      <p:sp>
        <p:nvSpPr>
          <p:cNvPr id="10" name="Text 7"/>
          <p:cNvSpPr/>
          <p:nvPr/>
        </p:nvSpPr>
        <p:spPr>
          <a:xfrm>
            <a:off x="8191500" y="1841500"/>
            <a:ext cx="1962150"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A93B"/>
                </a:solidFill>
                <a:latin typeface="Barlow Condensed" pitchFamily="34" charset="0"/>
                <a:ea typeface="Barlow Condensed" pitchFamily="34" charset="-122"/>
                <a:cs typeface="Barlow Condensed" pitchFamily="34" charset="-120"/>
              </a:rPr>
              <a:t>+$1.98M</a:t>
            </a:r>
            <a:endParaRPr lang="en-US" sz="3200" dirty="0"/>
          </a:p>
        </p:txBody>
      </p:sp>
      <p:sp>
        <p:nvSpPr>
          <p:cNvPr id="11" name="Text 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C90"/>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0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8102E"/>
                </a:solidFill>
                <a:latin typeface="IBM Plex Mono" pitchFamily="49" charset="0"/>
                <a:ea typeface="IBM Plex Mono" pitchFamily="49" charset="-122"/>
                <a:cs typeface="IBM Plex Mono" pitchFamily="49" charset="-120"/>
              </a:rPr>
              <a:t>THE CASE FOR YES</a:t>
            </a:r>
            <a:endParaRPr lang="en-US" sz="1200" dirty="0"/>
          </a:p>
        </p:txBody>
      </p:sp>
      <p:sp>
        <p:nvSpPr>
          <p:cNvPr id="3" name="Text 1"/>
          <p:cNvSpPr/>
          <p:nvPr>
            <p:ph type="title"/>
          </p:nvPr>
        </p:nvSpPr>
        <p:spPr>
          <a:xfrm>
            <a:off x="812800" y="12801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7181A"/>
                </a:solidFill>
                <a:latin typeface="Barlow Condensed" pitchFamily="34" charset="0"/>
                <a:ea typeface="Barlow Condensed" pitchFamily="34" charset="-122"/>
                <a:cs typeface="Barlow Condensed" pitchFamily="34" charset="-120"/>
              </a:rPr>
              <a:t>THREE REASONS</a:t>
            </a:r>
            <a:endParaRPr lang="en-US" sz="4400" dirty="0"/>
          </a:p>
        </p:txBody>
      </p:sp>
      <p:sp>
        <p:nvSpPr>
          <p:cNvPr id="4" name="Shape 2"/>
          <p:cNvSpPr/>
          <p:nvPr/>
        </p:nvSpPr>
        <p:spPr>
          <a:xfrm>
            <a:off x="812800" y="2592189"/>
            <a:ext cx="3318867" cy="0"/>
          </a:xfrm>
          <a:prstGeom prst="line">
            <a:avLst/>
          </a:prstGeom>
          <a:noFill/>
          <a:ln w="38100">
            <a:solidFill>
              <a:srgbClr val="17181A"/>
            </a:solidFill>
            <a:prstDash val="solid"/>
          </a:ln>
        </p:spPr>
      </p:sp>
      <p:sp>
        <p:nvSpPr>
          <p:cNvPr id="5" name="Text 3"/>
          <p:cNvSpPr/>
          <p:nvPr/>
        </p:nvSpPr>
        <p:spPr>
          <a:xfrm>
            <a:off x="812800" y="2814439"/>
            <a:ext cx="3418433" cy="711200"/>
          </a:xfrm>
          <a:prstGeom prst="rect">
            <a:avLst/>
          </a:prstGeom>
          <a:noFill/>
          <a:ln/>
        </p:spPr>
        <p:txBody>
          <a:bodyPr wrap="square" lIns="0" tIns="0" rIns="0" bIns="0" rtlCol="0" anchor="t">
            <a:normAutofit/>
          </a:bodyPr>
          <a:lstStyle/>
          <a:p>
            <a:pPr algn="l" indent="0" marL="0">
              <a:lnSpc>
                <a:spcPts val="5400"/>
              </a:lnSpc>
              <a:buNone/>
            </a:pPr>
            <a:r>
              <a:rPr lang="en-US" sz="6000" b="1" dirty="0">
                <a:solidFill>
                  <a:srgbClr val="C8102E"/>
                </a:solidFill>
                <a:latin typeface="Barlow Condensed" pitchFamily="34" charset="0"/>
                <a:ea typeface="Barlow Condensed" pitchFamily="34" charset="-122"/>
                <a:cs typeface="Barlow Condensed" pitchFamily="34" charset="-120"/>
              </a:rPr>
              <a:t>1</a:t>
            </a:r>
            <a:endParaRPr lang="en-US" sz="6000" dirty="0"/>
          </a:p>
        </p:txBody>
      </p:sp>
      <p:sp>
        <p:nvSpPr>
          <p:cNvPr id="6" name="Text 4"/>
          <p:cNvSpPr/>
          <p:nvPr/>
        </p:nvSpPr>
        <p:spPr>
          <a:xfrm>
            <a:off x="812800" y="3627239"/>
            <a:ext cx="3418433" cy="87868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7181A"/>
                </a:solidFill>
                <a:latin typeface="Barlow Condensed" pitchFamily="34" charset="0"/>
                <a:ea typeface="Barlow Condensed" pitchFamily="34" charset="-122"/>
                <a:cs typeface="Barlow Condensed" pitchFamily="34" charset="-120"/>
              </a:rPr>
              <a:t>BIGGEST FIXABLE DELAY</a:t>
            </a:r>
            <a:endParaRPr lang="en-US" sz="3200" dirty="0"/>
          </a:p>
        </p:txBody>
      </p:sp>
      <p:sp>
        <p:nvSpPr>
          <p:cNvPr id="7" name="Shape 5"/>
          <p:cNvSpPr/>
          <p:nvPr/>
        </p:nvSpPr>
        <p:spPr>
          <a:xfrm>
            <a:off x="4436467" y="2805509"/>
            <a:ext cx="3318966" cy="0"/>
          </a:xfrm>
          <a:prstGeom prst="line">
            <a:avLst/>
          </a:prstGeom>
          <a:noFill/>
          <a:ln w="38100">
            <a:solidFill>
              <a:srgbClr val="17181A"/>
            </a:solidFill>
            <a:prstDash val="solid"/>
          </a:ln>
        </p:spPr>
      </p:sp>
      <p:sp>
        <p:nvSpPr>
          <p:cNvPr id="8" name="Text 6"/>
          <p:cNvSpPr/>
          <p:nvPr/>
        </p:nvSpPr>
        <p:spPr>
          <a:xfrm>
            <a:off x="4436467" y="3027759"/>
            <a:ext cx="3418535" cy="711200"/>
          </a:xfrm>
          <a:prstGeom prst="rect">
            <a:avLst/>
          </a:prstGeom>
          <a:noFill/>
          <a:ln/>
        </p:spPr>
        <p:txBody>
          <a:bodyPr wrap="square" lIns="0" tIns="0" rIns="0" bIns="0" rtlCol="0" anchor="t">
            <a:normAutofit/>
          </a:bodyPr>
          <a:lstStyle/>
          <a:p>
            <a:pPr algn="l" indent="0" marL="0">
              <a:lnSpc>
                <a:spcPts val="5400"/>
              </a:lnSpc>
              <a:buNone/>
            </a:pPr>
            <a:r>
              <a:rPr lang="en-US" sz="6000" b="1" dirty="0">
                <a:solidFill>
                  <a:srgbClr val="C8102E"/>
                </a:solidFill>
                <a:latin typeface="Barlow Condensed" pitchFamily="34" charset="0"/>
                <a:ea typeface="Barlow Condensed" pitchFamily="34" charset="-122"/>
                <a:cs typeface="Barlow Condensed" pitchFamily="34" charset="-120"/>
              </a:rPr>
              <a:t>2</a:t>
            </a:r>
            <a:endParaRPr lang="en-US" sz="6000" dirty="0"/>
          </a:p>
        </p:txBody>
      </p:sp>
      <p:sp>
        <p:nvSpPr>
          <p:cNvPr id="9" name="Text 7"/>
          <p:cNvSpPr/>
          <p:nvPr/>
        </p:nvSpPr>
        <p:spPr>
          <a:xfrm>
            <a:off x="4436467" y="3840559"/>
            <a:ext cx="3418535"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7181A"/>
                </a:solidFill>
                <a:latin typeface="Barlow Condensed" pitchFamily="34" charset="0"/>
                <a:ea typeface="Barlow Condensed" pitchFamily="34" charset="-122"/>
                <a:cs typeface="Barlow Condensed" pitchFamily="34" charset="-120"/>
              </a:rPr>
              <a:t>FAST TO PAY BACK</a:t>
            </a:r>
            <a:endParaRPr lang="en-US" sz="3200" dirty="0"/>
          </a:p>
        </p:txBody>
      </p:sp>
      <p:sp>
        <p:nvSpPr>
          <p:cNvPr id="10" name="Shape 8"/>
          <p:cNvSpPr/>
          <p:nvPr/>
        </p:nvSpPr>
        <p:spPr>
          <a:xfrm>
            <a:off x="8060234" y="2805509"/>
            <a:ext cx="3318966" cy="0"/>
          </a:xfrm>
          <a:prstGeom prst="line">
            <a:avLst/>
          </a:prstGeom>
          <a:noFill/>
          <a:ln w="38100">
            <a:solidFill>
              <a:srgbClr val="17181A"/>
            </a:solidFill>
            <a:prstDash val="solid"/>
          </a:ln>
        </p:spPr>
      </p:sp>
      <p:sp>
        <p:nvSpPr>
          <p:cNvPr id="11" name="Text 9"/>
          <p:cNvSpPr/>
          <p:nvPr/>
        </p:nvSpPr>
        <p:spPr>
          <a:xfrm>
            <a:off x="8060234" y="3027759"/>
            <a:ext cx="3418535" cy="711200"/>
          </a:xfrm>
          <a:prstGeom prst="rect">
            <a:avLst/>
          </a:prstGeom>
          <a:noFill/>
          <a:ln/>
        </p:spPr>
        <p:txBody>
          <a:bodyPr wrap="square" lIns="0" tIns="0" rIns="0" bIns="0" rtlCol="0" anchor="t">
            <a:normAutofit/>
          </a:bodyPr>
          <a:lstStyle/>
          <a:p>
            <a:pPr algn="l" indent="0" marL="0">
              <a:lnSpc>
                <a:spcPts val="5400"/>
              </a:lnSpc>
              <a:buNone/>
            </a:pPr>
            <a:r>
              <a:rPr lang="en-US" sz="6000" b="1" dirty="0">
                <a:solidFill>
                  <a:srgbClr val="C8102E"/>
                </a:solidFill>
                <a:latin typeface="Barlow Condensed" pitchFamily="34" charset="0"/>
                <a:ea typeface="Barlow Condensed" pitchFamily="34" charset="-122"/>
                <a:cs typeface="Barlow Condensed" pitchFamily="34" charset="-120"/>
              </a:rPr>
              <a:t>3</a:t>
            </a:r>
            <a:endParaRPr lang="en-US" sz="6000" dirty="0"/>
          </a:p>
        </p:txBody>
      </p:sp>
      <p:sp>
        <p:nvSpPr>
          <p:cNvPr id="12" name="Text 10"/>
          <p:cNvSpPr/>
          <p:nvPr/>
        </p:nvSpPr>
        <p:spPr>
          <a:xfrm>
            <a:off x="8060234" y="3840559"/>
            <a:ext cx="3418535"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7181A"/>
                </a:solidFill>
                <a:latin typeface="Barlow Condensed" pitchFamily="34" charset="0"/>
                <a:ea typeface="Barlow Condensed" pitchFamily="34" charset="-122"/>
                <a:cs typeface="Barlow Condensed" pitchFamily="34" charset="-120"/>
              </a:rPr>
              <a:t>SAFE BY DESIGN</a:t>
            </a:r>
            <a:endParaRPr lang="en-US" sz="3200" dirty="0"/>
          </a:p>
        </p:txBody>
      </p:sp>
      <p:sp>
        <p:nvSpPr>
          <p:cNvPr id="13" name="Shape 11"/>
          <p:cNvSpPr/>
          <p:nvPr/>
        </p:nvSpPr>
        <p:spPr>
          <a:xfrm>
            <a:off x="812800" y="5221089"/>
            <a:ext cx="10566400" cy="0"/>
          </a:xfrm>
          <a:prstGeom prst="line">
            <a:avLst/>
          </a:prstGeom>
          <a:noFill/>
          <a:ln w="12700">
            <a:solidFill>
              <a:srgbClr val="C9C7C0"/>
            </a:solidFill>
            <a:prstDash val="solid"/>
          </a:ln>
        </p:spPr>
      </p:sp>
      <p:sp>
        <p:nvSpPr>
          <p:cNvPr id="14" name="Text 12"/>
          <p:cNvSpPr/>
          <p:nvPr/>
        </p:nvSpPr>
        <p:spPr>
          <a:xfrm>
            <a:off x="8128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Waits hit every site and every failure</a:t>
            </a:r>
            <a:endParaRPr lang="en-US" sz="1400" dirty="0"/>
          </a:p>
        </p:txBody>
      </p:sp>
      <p:sp>
        <p:nvSpPr>
          <p:cNvPr id="15" name="Text 13"/>
          <p:cNvSpPr/>
          <p:nvPr/>
        </p:nvSpPr>
        <p:spPr>
          <a:xfrm>
            <a:off x="44196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1 month to start · ~8-month payback</a:t>
            </a:r>
            <a:endParaRPr lang="en-US" sz="1400" dirty="0"/>
          </a:p>
        </p:txBody>
      </p:sp>
      <p:sp>
        <p:nvSpPr>
          <p:cNvPr id="16" name="Text 14"/>
          <p:cNvSpPr/>
          <p:nvPr/>
        </p:nvSpPr>
        <p:spPr>
          <a:xfrm>
            <a:off x="80264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Ask: $227.5k for safety sprint + Canyon pilot</a:t>
            </a:r>
            <a:endParaRPr lang="en-US" sz="1400" dirty="0"/>
          </a:p>
        </p:txBody>
      </p:sp>
      <p:sp>
        <p:nvSpPr>
          <p:cNvPr id="17"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C90"/>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0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8102E"/>
                </a:solidFill>
                <a:latin typeface="IBM Plex Mono" pitchFamily="49" charset="0"/>
                <a:ea typeface="IBM Plex Mono" pitchFamily="49" charset="-122"/>
                <a:cs typeface="IBM Plex Mono" pitchFamily="49" charset="-120"/>
              </a:rPr>
              <a:t>SAFETY &amp; RESPONSIBLE USE</a:t>
            </a:r>
            <a:endParaRPr lang="en-US" sz="1200" dirty="0"/>
          </a:p>
        </p:txBody>
      </p:sp>
      <p:sp>
        <p:nvSpPr>
          <p:cNvPr id="3" name="Text 1"/>
          <p:cNvSpPr/>
          <p:nvPr>
            <p:ph type="title"/>
          </p:nvPr>
        </p:nvSpPr>
        <p:spPr>
          <a:xfrm>
            <a:off x="812800" y="12801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1" i="0" dirty="0">
                <a:solidFill>
                  <a:srgbClr val="17181A"/>
                </a:solidFill>
                <a:latin typeface="Barlow Condensed" pitchFamily="34" charset="0"/>
                <a:ea typeface="Barlow Condensed" pitchFamily="34" charset="-122"/>
                <a:cs typeface="Barlow Condensed" pitchFamily="34" charset="-120"/>
              </a:rPr>
              <a:t>SAFETY IS NEVER SKIPPED</a:t>
            </a:r>
            <a:endParaRPr lang="en-US" sz="4400" dirty="0"/>
          </a:p>
        </p:txBody>
      </p:sp>
      <p:sp>
        <p:nvSpPr>
          <p:cNvPr id="4" name="Shape 2"/>
          <p:cNvSpPr/>
          <p:nvPr/>
        </p:nvSpPr>
        <p:spPr>
          <a:xfrm>
            <a:off x="812800" y="2856309"/>
            <a:ext cx="3318867" cy="0"/>
          </a:xfrm>
          <a:prstGeom prst="line">
            <a:avLst/>
          </a:prstGeom>
          <a:noFill/>
          <a:ln w="38100">
            <a:solidFill>
              <a:srgbClr val="C8102E"/>
            </a:solidFill>
            <a:prstDash val="solid"/>
          </a:ln>
        </p:spPr>
      </p:sp>
      <p:pic>
        <p:nvPicPr>
          <p:cNvPr id="5" name="Image 0" descr="Lock">    </p:cNvPr>
          <p:cNvPicPr>
            <a:picLocks noChangeAspect="1"/>
          </p:cNvPicPr>
          <p:nvPr/>
        </p:nvPicPr>
        <p:blipFill>
          <a:blip r:embed="rId1"/>
          <a:srcRect l="0" r="0" t="0" b="0"/>
          <a:stretch/>
        </p:blipFill>
        <p:spPr>
          <a:xfrm>
            <a:off x="812800" y="3129359"/>
            <a:ext cx="508000" cy="508000"/>
          </a:xfrm>
          <a:prstGeom prst="rect">
            <a:avLst/>
          </a:prstGeom>
        </p:spPr>
      </p:pic>
      <p:sp>
        <p:nvSpPr>
          <p:cNvPr id="6" name="Text 3"/>
          <p:cNvSpPr/>
          <p:nvPr/>
        </p:nvSpPr>
        <p:spPr>
          <a:xfrm>
            <a:off x="812800" y="3789759"/>
            <a:ext cx="3418433"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7181A"/>
                </a:solidFill>
                <a:latin typeface="Barlow Condensed" pitchFamily="34" charset="0"/>
                <a:ea typeface="Barlow Condensed" pitchFamily="34" charset="-122"/>
                <a:cs typeface="Barlow Condensed" pitchFamily="34" charset="-120"/>
              </a:rPr>
              <a:t>NO OVERRIDE</a:t>
            </a:r>
            <a:endParaRPr lang="en-US" sz="3200" dirty="0"/>
          </a:p>
        </p:txBody>
      </p:sp>
      <p:sp>
        <p:nvSpPr>
          <p:cNvPr id="7" name="Shape 4"/>
          <p:cNvSpPr/>
          <p:nvPr/>
        </p:nvSpPr>
        <p:spPr>
          <a:xfrm>
            <a:off x="4436467" y="2856309"/>
            <a:ext cx="3318966" cy="0"/>
          </a:xfrm>
          <a:prstGeom prst="line">
            <a:avLst/>
          </a:prstGeom>
          <a:noFill/>
          <a:ln w="38100">
            <a:solidFill>
              <a:srgbClr val="17181A"/>
            </a:solidFill>
            <a:prstDash val="solid"/>
          </a:ln>
        </p:spPr>
      </p:sp>
      <p:pic>
        <p:nvPicPr>
          <p:cNvPr id="8" name="Image 1" descr="Users">    </p:cNvPr>
          <p:cNvPicPr>
            <a:picLocks noChangeAspect="1"/>
          </p:cNvPicPr>
          <p:nvPr/>
        </p:nvPicPr>
        <p:blipFill>
          <a:blip r:embed="rId2"/>
          <a:srcRect l="0" r="0" t="0" b="0"/>
          <a:stretch/>
        </p:blipFill>
        <p:spPr>
          <a:xfrm>
            <a:off x="4436467" y="3129359"/>
            <a:ext cx="508000" cy="508000"/>
          </a:xfrm>
          <a:prstGeom prst="rect">
            <a:avLst/>
          </a:prstGeom>
        </p:spPr>
      </p:pic>
      <p:sp>
        <p:nvSpPr>
          <p:cNvPr id="9" name="Text 5"/>
          <p:cNvSpPr/>
          <p:nvPr/>
        </p:nvSpPr>
        <p:spPr>
          <a:xfrm>
            <a:off x="4436467" y="3789759"/>
            <a:ext cx="3418535"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7181A"/>
                </a:solidFill>
                <a:latin typeface="Barlow Condensed" pitchFamily="34" charset="0"/>
                <a:ea typeface="Barlow Condensed" pitchFamily="34" charset="-122"/>
                <a:cs typeface="Barlow Condensed" pitchFamily="34" charset="-120"/>
              </a:rPr>
              <a:t>PEOPLE DECIDE</a:t>
            </a:r>
            <a:endParaRPr lang="en-US" sz="3200" dirty="0"/>
          </a:p>
        </p:txBody>
      </p:sp>
      <p:sp>
        <p:nvSpPr>
          <p:cNvPr id="10" name="Shape 6"/>
          <p:cNvSpPr/>
          <p:nvPr/>
        </p:nvSpPr>
        <p:spPr>
          <a:xfrm>
            <a:off x="8060234" y="2856309"/>
            <a:ext cx="3318966" cy="0"/>
          </a:xfrm>
          <a:prstGeom prst="line">
            <a:avLst/>
          </a:prstGeom>
          <a:noFill/>
          <a:ln w="38100">
            <a:solidFill>
              <a:srgbClr val="17181A"/>
            </a:solidFill>
            <a:prstDash val="solid"/>
          </a:ln>
        </p:spPr>
      </p:sp>
      <p:pic>
        <p:nvPicPr>
          <p:cNvPr id="11" name="Image 2" descr="Wrench">    </p:cNvPr>
          <p:cNvPicPr>
            <a:picLocks noChangeAspect="1"/>
          </p:cNvPicPr>
          <p:nvPr/>
        </p:nvPicPr>
        <p:blipFill>
          <a:blip r:embed="rId3"/>
          <a:srcRect l="0" r="0" t="0" b="0"/>
          <a:stretch/>
        </p:blipFill>
        <p:spPr>
          <a:xfrm>
            <a:off x="8060234" y="3129359"/>
            <a:ext cx="508000" cy="508000"/>
          </a:xfrm>
          <a:prstGeom prst="rect">
            <a:avLst/>
          </a:prstGeom>
        </p:spPr>
      </p:pic>
      <p:sp>
        <p:nvSpPr>
          <p:cNvPr id="12" name="Text 7"/>
          <p:cNvSpPr/>
          <p:nvPr/>
        </p:nvSpPr>
        <p:spPr>
          <a:xfrm>
            <a:off x="8060234" y="3789759"/>
            <a:ext cx="3418535" cy="452041"/>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17181A"/>
                </a:solidFill>
                <a:latin typeface="Barlow Condensed" pitchFamily="34" charset="0"/>
                <a:ea typeface="Barlow Condensed" pitchFamily="34" charset="-122"/>
                <a:cs typeface="Barlow Condensed" pitchFamily="34" charset="-120"/>
              </a:rPr>
              <a:t>WORK UNTOUCHED</a:t>
            </a:r>
            <a:endParaRPr lang="en-US" sz="3200" dirty="0"/>
          </a:p>
        </p:txBody>
      </p:sp>
      <p:sp>
        <p:nvSpPr>
          <p:cNvPr id="13" name="Shape 8"/>
          <p:cNvSpPr/>
          <p:nvPr/>
        </p:nvSpPr>
        <p:spPr>
          <a:xfrm>
            <a:off x="812800" y="5221089"/>
            <a:ext cx="10566400" cy="0"/>
          </a:xfrm>
          <a:prstGeom prst="line">
            <a:avLst/>
          </a:prstGeom>
          <a:noFill/>
          <a:ln w="12700">
            <a:solidFill>
              <a:srgbClr val="C9C7C0"/>
            </a:solidFill>
            <a:prstDash val="solid"/>
          </a:ln>
        </p:spPr>
      </p:sp>
      <p:sp>
        <p:nvSpPr>
          <p:cNvPr id="14" name="Text 9"/>
          <p:cNvSpPr/>
          <p:nvPr/>
        </p:nvSpPr>
        <p:spPr>
          <a:xfrm>
            <a:off x="8128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Open severity-5 action = site can’t start</a:t>
            </a:r>
            <a:endParaRPr lang="en-US" sz="1400" dirty="0"/>
          </a:p>
        </p:txBody>
      </p:sp>
      <p:sp>
        <p:nvSpPr>
          <p:cNvPr id="15" name="Text 10"/>
          <p:cNvSpPr/>
          <p:nvPr/>
        </p:nvSpPr>
        <p:spPr>
          <a:xfrm>
            <a:off x="4419600" y="5379839"/>
            <a:ext cx="3606800"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Advice only · a person approves and logs it</a:t>
            </a:r>
            <a:endParaRPr lang="en-US" sz="1400" dirty="0"/>
          </a:p>
        </p:txBody>
      </p:sp>
      <p:sp>
        <p:nvSpPr>
          <p:cNvPr id="16" name="Text 11"/>
          <p:cNvSpPr/>
          <p:nvPr/>
        </p:nvSpPr>
        <p:spPr>
          <a:xfrm>
            <a:off x="8026400" y="5379839"/>
            <a:ext cx="3453384"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8102E"/>
                </a:solidFill>
                <a:latin typeface="Barlow" pitchFamily="34" charset="0"/>
                <a:ea typeface="Barlow" pitchFamily="34" charset="-122"/>
                <a:cs typeface="Barlow" pitchFamily="34" charset="-120"/>
              </a:rPr>
              <a:t>•</a:t>
            </a:r>
            <a:r>
              <a:rPr lang="en-US" sz="1400" dirty="0">
                <a:solidFill>
                  <a:srgbClr val="3A3D42"/>
                </a:solidFill>
                <a:latin typeface="Barlow" pitchFamily="34" charset="0"/>
                <a:ea typeface="Barlow" pitchFamily="34" charset="-122"/>
                <a:cs typeface="Barlow" pitchFamily="34" charset="-120"/>
              </a:rPr>
              <a:t> Lockout, gas checks and restart unchanged</a:t>
            </a:r>
            <a:endParaRPr lang="en-US" sz="1400" dirty="0"/>
          </a:p>
        </p:txBody>
      </p:sp>
      <p:sp>
        <p:nvSpPr>
          <p:cNvPr id="17" name="Text 1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C90"/>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theme/theme1.xml><?xml version="1.0" encoding="utf-8"?>
<a:theme xmlns:a="http://schemas.openxmlformats.org/drawingml/2006/main" name="Lone Mesa Parts Program">
  <a:themeElements>
    <a:clrScheme name="Lone Mesa Parts Program">
      <a:dk1>
        <a:srgbClr val="17181A"/>
      </a:dk1>
      <a:lt1>
        <a:srgbClr val="F1F0EC"/>
      </a:lt1>
      <a:dk2>
        <a:srgbClr val="4E4E4F"/>
      </a:dk2>
      <a:lt2>
        <a:srgbClr val="DBDAD7"/>
      </a:lt2>
      <a:accent1>
        <a:srgbClr val="C8102E"/>
      </a:accent1>
      <a:accent2>
        <a:srgbClr val="F2A93B"/>
      </a:accent2>
      <a:accent3>
        <a:srgbClr val="FF6B7F"/>
      </a:accent3>
      <a:accent4>
        <a:srgbClr val="3A3D42"/>
      </a:accent4>
      <a:accent5>
        <a:srgbClr val="8A8C90"/>
      </a:accent5>
      <a:accent6>
        <a:srgbClr val="6B6E73"/>
      </a:accent6>
      <a:hlink>
        <a:srgbClr val="0563C1"/>
      </a:hlink>
      <a:folHlink>
        <a:srgbClr val="954F72"/>
      </a:folHlink>
    </a:clrScheme>
    <a:fontScheme name="Lone Mesa Parts Program">
      <a:majorFont>
        <a:latin typeface="Barlow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Lone Mesa Parts Program</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Barlow
Copyright 2017 The Barlow Project Authors (https://github.com/jpt/barlow)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Barlow Condensed
Copyright 2017 The Barlow Project Authors (https://github.com/jpt/barlow)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2026-10-24T21:27:00Z</dcterms:created>
  <dcterms:modified xsi:type="dcterms:W3CDTF">2026-10-24T21:27:00Z</dcterms:modified>
</cp:coreProperties>
</file>